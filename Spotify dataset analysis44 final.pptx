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1"/>
  </p:notesMasterIdLst>
  <p:sldIdLst>
    <p:sldId id="305" r:id="rId5"/>
    <p:sldId id="312" r:id="rId6"/>
    <p:sldId id="313" r:id="rId7"/>
    <p:sldId id="318" r:id="rId8"/>
    <p:sldId id="314" r:id="rId9"/>
    <p:sldId id="315" r:id="rId10"/>
    <p:sldId id="316" r:id="rId11"/>
    <p:sldId id="317" r:id="rId12"/>
    <p:sldId id="319" r:id="rId13"/>
    <p:sldId id="344" r:id="rId14"/>
    <p:sldId id="333" r:id="rId15"/>
    <p:sldId id="335" r:id="rId16"/>
    <p:sldId id="327" r:id="rId17"/>
    <p:sldId id="346" r:id="rId18"/>
    <p:sldId id="323" r:id="rId19"/>
    <p:sldId id="322" r:id="rId20"/>
    <p:sldId id="324" r:id="rId21"/>
    <p:sldId id="334" r:id="rId22"/>
    <p:sldId id="345" r:id="rId23"/>
    <p:sldId id="320" r:id="rId24"/>
    <p:sldId id="330" r:id="rId25"/>
    <p:sldId id="331" r:id="rId26"/>
    <p:sldId id="326" r:id="rId27"/>
    <p:sldId id="332" r:id="rId28"/>
    <p:sldId id="347" r:id="rId29"/>
    <p:sldId id="321" r:id="rId30"/>
    <p:sldId id="336" r:id="rId31"/>
    <p:sldId id="338" r:id="rId32"/>
    <p:sldId id="339" r:id="rId33"/>
    <p:sldId id="340" r:id="rId34"/>
    <p:sldId id="337" r:id="rId35"/>
    <p:sldId id="341" r:id="rId36"/>
    <p:sldId id="325" r:id="rId37"/>
    <p:sldId id="342" r:id="rId38"/>
    <p:sldId id="328" r:id="rId39"/>
    <p:sldId id="32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53" autoAdjust="0"/>
    <p:restoredTop sz="94619" autoAdjust="0"/>
  </p:normalViewPr>
  <p:slideViewPr>
    <p:cSldViewPr snapToGrid="0">
      <p:cViewPr varScale="1">
        <p:scale>
          <a:sx n="68" d="100"/>
          <a:sy n="68" d="100"/>
        </p:scale>
        <p:origin x="5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43A6E3-110A-46D1-A8CE-A6EA292BBCC0}" type="datetimeFigureOut">
              <a:rPr lang="en-US" smtClean="0"/>
              <a:t>30-11-25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E975-84D3-40B6-A66F-492F7F01FC0D}" type="slidenum">
              <a:rPr lang="en-US" smtClean="0"/>
              <a:t>‹#›</a:t>
            </a:fld>
            <a:endParaRPr lang="en-US"/>
          </a:p>
        </p:txBody>
      </p:sp>
    </p:spTree>
    <p:extLst>
      <p:ext uri="{BB962C8B-B14F-4D97-AF65-F5344CB8AC3E}">
        <p14:creationId xmlns:p14="http://schemas.microsoft.com/office/powerpoint/2010/main" val="1346092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30-11-25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08280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30-11-25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5516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30-11-25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6120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30-11-25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03605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30-11-25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9299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30-11-25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729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30-11-25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148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30-11-25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69114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30-11-25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230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30-11-25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7392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30-11-25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77243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30-11-25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82853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30-11-25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97252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30-11-25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92141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30-11-25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3939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30-11-25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30-11-25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737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30-11-25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3620715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05AC74-6838-4CD9-B157-B3BB3E2F5415}"/>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0" y="10"/>
            <a:ext cx="12191980" cy="6857990"/>
          </a:xfrm>
          <a:prstGeom prst="rect">
            <a:avLst/>
          </a:prstGeom>
        </p:spPr>
      </p:pic>
      <p:sp useBgFill="1">
        <p:nvSpPr>
          <p:cNvPr id="83"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199829" y="1101852"/>
            <a:ext cx="4254640" cy="4654297"/>
          </a:xfrm>
          <a:prstGeom prst="round2SameRect">
            <a:avLst>
              <a:gd name="adj1" fmla="val 5146"/>
              <a:gd name="adj2" fmla="val 400"/>
            </a:avLst>
          </a:pr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213493" y="723080"/>
            <a:ext cx="3503122" cy="2287229"/>
          </a:xfrm>
        </p:spPr>
        <p:txBody>
          <a:bodyPr>
            <a:normAutofit/>
          </a:bodyPr>
          <a:lstStyle/>
          <a:p>
            <a:pPr algn="l"/>
            <a:r>
              <a:rPr lang="en-US" sz="4400" dirty="0"/>
              <a:t>Spotify dataset analysis</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815926" y="3195013"/>
            <a:ext cx="3294583" cy="787791"/>
          </a:xfrm>
        </p:spPr>
        <p:txBody>
          <a:bodyPr>
            <a:normAutofit/>
          </a:bodyPr>
          <a:lstStyle/>
          <a:p>
            <a:pPr algn="l"/>
            <a:r>
              <a:rPr lang="en-US" sz="1800" dirty="0">
                <a:solidFill>
                  <a:srgbClr val="FC05CB"/>
                </a:solidFill>
              </a:rPr>
              <a:t>Presented by Md Kamran Basit</a:t>
            </a:r>
          </a:p>
        </p:txBody>
      </p:sp>
    </p:spTree>
    <p:extLst>
      <p:ext uri="{BB962C8B-B14F-4D97-AF65-F5344CB8AC3E}">
        <p14:creationId xmlns:p14="http://schemas.microsoft.com/office/powerpoint/2010/main" val="1946576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0DCBE-CB14-383F-0E3A-85225F49A515}"/>
              </a:ext>
            </a:extLst>
          </p:cNvPr>
          <p:cNvSpPr>
            <a:spLocks noGrp="1"/>
          </p:cNvSpPr>
          <p:nvPr>
            <p:ph type="title"/>
          </p:nvPr>
        </p:nvSpPr>
        <p:spPr>
          <a:xfrm>
            <a:off x="548035" y="0"/>
            <a:ext cx="10353762" cy="1257300"/>
          </a:xfrm>
        </p:spPr>
        <p:txBody>
          <a:bodyPr/>
          <a:lstStyle/>
          <a:p>
            <a:r>
              <a:rPr lang="en-US" dirty="0"/>
              <a:t>Agenda</a:t>
            </a:r>
          </a:p>
        </p:txBody>
      </p:sp>
      <p:sp>
        <p:nvSpPr>
          <p:cNvPr id="3" name="Content Placeholder 2">
            <a:extLst>
              <a:ext uri="{FF2B5EF4-FFF2-40B4-BE49-F238E27FC236}">
                <a16:creationId xmlns:a16="http://schemas.microsoft.com/office/drawing/2014/main" id="{2C33658C-4F8B-C496-5295-5ABC7A1CDD33}"/>
              </a:ext>
            </a:extLst>
          </p:cNvPr>
          <p:cNvSpPr>
            <a:spLocks noGrp="1"/>
          </p:cNvSpPr>
          <p:nvPr>
            <p:ph idx="1"/>
          </p:nvPr>
        </p:nvSpPr>
        <p:spPr/>
        <p:txBody>
          <a:bodyPr/>
          <a:lstStyle/>
          <a:p>
            <a:r>
              <a:rPr lang="en-US" dirty="0">
                <a:effectLst/>
              </a:rPr>
              <a:t>Project Overview </a:t>
            </a:r>
          </a:p>
          <a:p>
            <a:r>
              <a:rPr lang="en-US" dirty="0">
                <a:effectLst/>
              </a:rPr>
              <a:t>Analysis and Observations </a:t>
            </a:r>
          </a:p>
          <a:p>
            <a:r>
              <a:rPr lang="en-US" dirty="0">
                <a:effectLst/>
              </a:rPr>
              <a:t>Problems </a:t>
            </a:r>
          </a:p>
          <a:p>
            <a:r>
              <a:rPr lang="en-US" dirty="0">
                <a:effectLst/>
              </a:rPr>
              <a:t>Recommendations </a:t>
            </a:r>
          </a:p>
          <a:p>
            <a:r>
              <a:rPr lang="en-US" dirty="0">
                <a:effectLst/>
              </a:rPr>
              <a:t>Conclusion</a:t>
            </a:r>
            <a:endParaRPr lang="en-US" dirty="0"/>
          </a:p>
        </p:txBody>
      </p:sp>
    </p:spTree>
    <p:extLst>
      <p:ext uri="{BB962C8B-B14F-4D97-AF65-F5344CB8AC3E}">
        <p14:creationId xmlns:p14="http://schemas.microsoft.com/office/powerpoint/2010/main" val="3456705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8BF02-F509-D865-543B-7107B1462B8D}"/>
              </a:ext>
            </a:extLst>
          </p:cNvPr>
          <p:cNvSpPr>
            <a:spLocks noGrp="1"/>
          </p:cNvSpPr>
          <p:nvPr>
            <p:ph type="title"/>
          </p:nvPr>
        </p:nvSpPr>
        <p:spPr>
          <a:xfrm>
            <a:off x="2728527" y="267286"/>
            <a:ext cx="5669885" cy="1257300"/>
          </a:xfrm>
        </p:spPr>
        <p:txBody>
          <a:bodyPr/>
          <a:lstStyle/>
          <a:p>
            <a:r>
              <a:rPr lang="en-US" dirty="0"/>
              <a:t>Objective </a:t>
            </a:r>
          </a:p>
        </p:txBody>
      </p:sp>
      <p:sp>
        <p:nvSpPr>
          <p:cNvPr id="3" name="Content Placeholder 2">
            <a:extLst>
              <a:ext uri="{FF2B5EF4-FFF2-40B4-BE49-F238E27FC236}">
                <a16:creationId xmlns:a16="http://schemas.microsoft.com/office/drawing/2014/main" id="{467B5CE1-6BDE-2997-C2C6-11B34B1B5B81}"/>
              </a:ext>
            </a:extLst>
          </p:cNvPr>
          <p:cNvSpPr>
            <a:spLocks noGrp="1"/>
          </p:cNvSpPr>
          <p:nvPr>
            <p:ph idx="1"/>
          </p:nvPr>
        </p:nvSpPr>
        <p:spPr>
          <a:xfrm>
            <a:off x="919119" y="1809164"/>
            <a:ext cx="10353762" cy="3714749"/>
          </a:xfrm>
        </p:spPr>
        <p:txBody>
          <a:bodyPr/>
          <a:lstStyle/>
          <a:p>
            <a:pPr marL="36900" indent="0">
              <a:buNone/>
            </a:pPr>
            <a:r>
              <a:rPr lang="en-US" dirty="0"/>
              <a:t>The primary objective of this analysis is to conduct a comprehensive exploration of the Spotify Tracks dataset in order to uncover meaningful patterns, correlations, and insights related to various aspects of music data. This includes examining song characteristics such as tempo, energy, danceability, and </a:t>
            </a:r>
            <a:r>
              <a:rPr lang="en-US" dirty="0" err="1"/>
              <a:t>acousticness</a:t>
            </a:r>
            <a:r>
              <a:rPr lang="en-US" dirty="0"/>
              <a:t>; identifying trends that influence song popularity across different time periods and genres; and evaluating artist performance based on their musical attributes and audience engagement. By analyzing these factors in depth, the study aims to provide a better understanding of what contributes to a song’s success and how artists and listeners interact within the evolving landscape of the music industry.</a:t>
            </a:r>
          </a:p>
        </p:txBody>
      </p:sp>
    </p:spTree>
    <p:extLst>
      <p:ext uri="{BB962C8B-B14F-4D97-AF65-F5344CB8AC3E}">
        <p14:creationId xmlns:p14="http://schemas.microsoft.com/office/powerpoint/2010/main" val="3825752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72A88-00A9-98AB-F610-57B801124EF3}"/>
              </a:ext>
            </a:extLst>
          </p:cNvPr>
          <p:cNvSpPr>
            <a:spLocks noGrp="1"/>
          </p:cNvSpPr>
          <p:nvPr>
            <p:ph type="title"/>
          </p:nvPr>
        </p:nvSpPr>
        <p:spPr>
          <a:xfrm>
            <a:off x="365155" y="-195188"/>
            <a:ext cx="10353762" cy="1430802"/>
          </a:xfrm>
        </p:spPr>
        <p:txBody>
          <a:bodyPr/>
          <a:lstStyle/>
          <a:p>
            <a:r>
              <a:rPr lang="en-US" b="1" dirty="0"/>
              <a:t>Dataset analysis</a:t>
            </a:r>
          </a:p>
        </p:txBody>
      </p:sp>
      <p:sp>
        <p:nvSpPr>
          <p:cNvPr id="3" name="Content Placeholder 2">
            <a:extLst>
              <a:ext uri="{FF2B5EF4-FFF2-40B4-BE49-F238E27FC236}">
                <a16:creationId xmlns:a16="http://schemas.microsoft.com/office/drawing/2014/main" id="{55C55F3B-AF7A-E93A-A00D-C1C85D5296E3}"/>
              </a:ext>
            </a:extLst>
          </p:cNvPr>
          <p:cNvSpPr>
            <a:spLocks noGrp="1"/>
          </p:cNvSpPr>
          <p:nvPr>
            <p:ph idx="1"/>
          </p:nvPr>
        </p:nvSpPr>
        <p:spPr>
          <a:xfrm>
            <a:off x="913795" y="1235614"/>
            <a:ext cx="10353762" cy="4555585"/>
          </a:xfrm>
        </p:spPr>
        <p:txBody>
          <a:bodyPr/>
          <a:lstStyle/>
          <a:p>
            <a:pPr marL="36900" indent="0">
              <a:buNone/>
            </a:pPr>
            <a:r>
              <a:rPr lang="en-US" b="1" dirty="0"/>
              <a:t>Total Records: 62317 (With 22 attributes)</a:t>
            </a:r>
          </a:p>
          <a:p>
            <a:pPr marL="36900" indent="0">
              <a:buNone/>
            </a:pPr>
            <a:r>
              <a:rPr lang="en-US" dirty="0"/>
              <a:t>Each record represents a single track and includes: </a:t>
            </a:r>
          </a:p>
          <a:p>
            <a:pPr marL="36900" indent="0">
              <a:buNone/>
            </a:pPr>
            <a:r>
              <a:rPr lang="en-US" dirty="0"/>
              <a:t>• Track Information: Includes the track name, artist, album, release year, language, and track URL.</a:t>
            </a:r>
          </a:p>
          <a:p>
            <a:pPr marL="36900" indent="0">
              <a:buNone/>
            </a:pPr>
            <a:r>
              <a:rPr lang="en-US" dirty="0"/>
              <a:t> • Popularity Score: A numerical value representing how well the song is performing.</a:t>
            </a:r>
          </a:p>
          <a:p>
            <a:pPr marL="36900" indent="0">
              <a:buNone/>
            </a:pPr>
            <a:r>
              <a:rPr lang="en-US" dirty="0"/>
              <a:t> • Audio Features: Captures characteristics such as danceability, energy, valence, </a:t>
            </a:r>
            <a:r>
              <a:rPr lang="en-US" dirty="0" err="1"/>
              <a:t>acousticness</a:t>
            </a:r>
            <a:r>
              <a:rPr lang="en-US" dirty="0"/>
              <a:t>, </a:t>
            </a:r>
            <a:r>
              <a:rPr lang="en-US" dirty="0" err="1"/>
              <a:t>instrumentalness</a:t>
            </a:r>
            <a:r>
              <a:rPr lang="en-US" dirty="0"/>
              <a:t>, </a:t>
            </a:r>
            <a:r>
              <a:rPr lang="en-US" dirty="0" err="1"/>
              <a:t>speechiness</a:t>
            </a:r>
            <a:r>
              <a:rPr lang="en-US" dirty="0"/>
              <a:t>, tempo, loudness, liveness, and more.</a:t>
            </a:r>
          </a:p>
          <a:p>
            <a:pPr marL="36900" indent="0">
              <a:buNone/>
            </a:pPr>
            <a:r>
              <a:rPr lang="en-US" dirty="0"/>
              <a:t> • Musical Properties: Details the key, mode, and time signature of the track.</a:t>
            </a:r>
            <a:endParaRPr lang="en-US" b="1" dirty="0"/>
          </a:p>
          <a:p>
            <a:endParaRPr lang="en-US" dirty="0"/>
          </a:p>
        </p:txBody>
      </p:sp>
    </p:spTree>
    <p:extLst>
      <p:ext uri="{BB962C8B-B14F-4D97-AF65-F5344CB8AC3E}">
        <p14:creationId xmlns:p14="http://schemas.microsoft.com/office/powerpoint/2010/main" val="3463201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79B6C-85F7-CEF7-6E03-4AAF431E10F3}"/>
              </a:ext>
            </a:extLst>
          </p:cNvPr>
          <p:cNvSpPr>
            <a:spLocks noGrp="1"/>
          </p:cNvSpPr>
          <p:nvPr>
            <p:ph type="title"/>
          </p:nvPr>
        </p:nvSpPr>
        <p:spPr>
          <a:xfrm>
            <a:off x="913795" y="211015"/>
            <a:ext cx="10353762" cy="1448973"/>
          </a:xfrm>
        </p:spPr>
        <p:txBody>
          <a:bodyPr/>
          <a:lstStyle/>
          <a:p>
            <a:r>
              <a:rPr lang="en-US" dirty="0"/>
              <a:t>Univariate analysis </a:t>
            </a:r>
          </a:p>
        </p:txBody>
      </p:sp>
      <p:sp>
        <p:nvSpPr>
          <p:cNvPr id="3" name="Content Placeholder 2">
            <a:extLst>
              <a:ext uri="{FF2B5EF4-FFF2-40B4-BE49-F238E27FC236}">
                <a16:creationId xmlns:a16="http://schemas.microsoft.com/office/drawing/2014/main" id="{C5B6BFFA-528F-3716-0301-E5E8EB776053}"/>
              </a:ext>
            </a:extLst>
          </p:cNvPr>
          <p:cNvSpPr>
            <a:spLocks noGrp="1"/>
          </p:cNvSpPr>
          <p:nvPr>
            <p:ph idx="1"/>
          </p:nvPr>
        </p:nvSpPr>
        <p:spPr>
          <a:xfrm>
            <a:off x="913795" y="2166425"/>
            <a:ext cx="10353762" cy="3624774"/>
          </a:xfrm>
        </p:spPr>
        <p:txBody>
          <a:bodyPr/>
          <a:lstStyle/>
          <a:p>
            <a:r>
              <a:rPr lang="en-US" dirty="0"/>
              <a:t>Popularity: measure oh how popular a track is ranging from 0 to 100</a:t>
            </a:r>
          </a:p>
          <a:p>
            <a:r>
              <a:rPr lang="en-US" dirty="0"/>
              <a:t>Tempo: estimated temp of a track in bpm</a:t>
            </a:r>
          </a:p>
          <a:p>
            <a:r>
              <a:rPr lang="en-US" dirty="0"/>
              <a:t>Duration : the duration of track</a:t>
            </a:r>
          </a:p>
          <a:p>
            <a:r>
              <a:rPr lang="en-US" dirty="0"/>
              <a:t>Danceability : measure of how a track is for dancing</a:t>
            </a:r>
          </a:p>
          <a:p>
            <a:pPr marL="36900" indent="0">
              <a:buNone/>
            </a:pPr>
            <a:endParaRPr lang="en-US" dirty="0"/>
          </a:p>
        </p:txBody>
      </p:sp>
    </p:spTree>
    <p:extLst>
      <p:ext uri="{BB962C8B-B14F-4D97-AF65-F5344CB8AC3E}">
        <p14:creationId xmlns:p14="http://schemas.microsoft.com/office/powerpoint/2010/main" val="2940642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718BE-5370-4C52-BA87-B5CB954BE08E}"/>
              </a:ext>
            </a:extLst>
          </p:cNvPr>
          <p:cNvSpPr>
            <a:spLocks noGrp="1"/>
          </p:cNvSpPr>
          <p:nvPr>
            <p:ph type="title"/>
          </p:nvPr>
        </p:nvSpPr>
        <p:spPr>
          <a:xfrm>
            <a:off x="-2363977" y="-9378"/>
            <a:ext cx="10353762" cy="1257300"/>
          </a:xfrm>
        </p:spPr>
        <p:txBody>
          <a:bodyPr/>
          <a:lstStyle/>
          <a:p>
            <a:r>
              <a:rPr lang="en-US" dirty="0"/>
              <a:t>Popularity score</a:t>
            </a:r>
          </a:p>
        </p:txBody>
      </p:sp>
      <p:pic>
        <p:nvPicPr>
          <p:cNvPr id="5" name="Content Placeholder 4">
            <a:extLst>
              <a:ext uri="{FF2B5EF4-FFF2-40B4-BE49-F238E27FC236}">
                <a16:creationId xmlns:a16="http://schemas.microsoft.com/office/drawing/2014/main" id="{36BF7A52-0B6F-5D31-C40A-C53F59CC9688}"/>
              </a:ext>
            </a:extLst>
          </p:cNvPr>
          <p:cNvPicPr>
            <a:picLocks noGrp="1" noChangeAspect="1"/>
          </p:cNvPicPr>
          <p:nvPr>
            <p:ph idx="1"/>
          </p:nvPr>
        </p:nvPicPr>
        <p:blipFill>
          <a:blip r:embed="rId2"/>
          <a:stretch>
            <a:fillRect/>
          </a:stretch>
        </p:blipFill>
        <p:spPr>
          <a:xfrm>
            <a:off x="1990636" y="1247922"/>
            <a:ext cx="8210727" cy="4083733"/>
          </a:xfrm>
        </p:spPr>
      </p:pic>
      <p:sp>
        <p:nvSpPr>
          <p:cNvPr id="6" name="TextBox 5">
            <a:extLst>
              <a:ext uri="{FF2B5EF4-FFF2-40B4-BE49-F238E27FC236}">
                <a16:creationId xmlns:a16="http://schemas.microsoft.com/office/drawing/2014/main" id="{3AC35ED7-5368-0511-9404-B716F22B12A9}"/>
              </a:ext>
            </a:extLst>
          </p:cNvPr>
          <p:cNvSpPr txBox="1"/>
          <p:nvPr/>
        </p:nvSpPr>
        <p:spPr>
          <a:xfrm>
            <a:off x="590842" y="5807026"/>
            <a:ext cx="10353762" cy="369332"/>
          </a:xfrm>
          <a:prstGeom prst="rect">
            <a:avLst/>
          </a:prstGeom>
          <a:noFill/>
        </p:spPr>
        <p:txBody>
          <a:bodyPr wrap="square" rtlCol="0">
            <a:spAutoFit/>
          </a:bodyPr>
          <a:lstStyle/>
          <a:p>
            <a:r>
              <a:rPr lang="en-US" dirty="0"/>
              <a:t>INSIGHT: most the songs have low to moderate popularity(0 to 50)</a:t>
            </a:r>
          </a:p>
        </p:txBody>
      </p:sp>
    </p:spTree>
    <p:extLst>
      <p:ext uri="{BB962C8B-B14F-4D97-AF65-F5344CB8AC3E}">
        <p14:creationId xmlns:p14="http://schemas.microsoft.com/office/powerpoint/2010/main" val="2192475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BEFED-2C34-DC5F-26C5-EF5A82AFCEF1}"/>
              </a:ext>
            </a:extLst>
          </p:cNvPr>
          <p:cNvSpPr>
            <a:spLocks noGrp="1"/>
          </p:cNvSpPr>
          <p:nvPr>
            <p:ph type="title"/>
          </p:nvPr>
        </p:nvSpPr>
        <p:spPr>
          <a:xfrm>
            <a:off x="0" y="0"/>
            <a:ext cx="8412480" cy="1066801"/>
          </a:xfrm>
        </p:spPr>
        <p:txBody>
          <a:bodyPr/>
          <a:lstStyle/>
          <a:p>
            <a:r>
              <a:rPr lang="en-US" dirty="0"/>
              <a:t>Making People Move (Danceability)</a:t>
            </a:r>
          </a:p>
        </p:txBody>
      </p:sp>
      <p:pic>
        <p:nvPicPr>
          <p:cNvPr id="5" name="Content Placeholder 4">
            <a:extLst>
              <a:ext uri="{FF2B5EF4-FFF2-40B4-BE49-F238E27FC236}">
                <a16:creationId xmlns:a16="http://schemas.microsoft.com/office/drawing/2014/main" id="{00F0AD38-D959-4634-F993-4092C7AB441B}"/>
              </a:ext>
            </a:extLst>
          </p:cNvPr>
          <p:cNvPicPr>
            <a:picLocks noGrp="1" noChangeAspect="1"/>
          </p:cNvPicPr>
          <p:nvPr>
            <p:ph idx="1"/>
          </p:nvPr>
        </p:nvPicPr>
        <p:blipFill>
          <a:blip r:embed="rId2"/>
          <a:stretch>
            <a:fillRect/>
          </a:stretch>
        </p:blipFill>
        <p:spPr>
          <a:xfrm>
            <a:off x="1921082" y="1190259"/>
            <a:ext cx="7490203" cy="3714750"/>
          </a:xfrm>
        </p:spPr>
      </p:pic>
      <p:sp>
        <p:nvSpPr>
          <p:cNvPr id="6" name="TextBox 5">
            <a:extLst>
              <a:ext uri="{FF2B5EF4-FFF2-40B4-BE49-F238E27FC236}">
                <a16:creationId xmlns:a16="http://schemas.microsoft.com/office/drawing/2014/main" id="{9D41DF22-1B00-182E-4CE9-5CA69B26F603}"/>
              </a:ext>
            </a:extLst>
          </p:cNvPr>
          <p:cNvSpPr txBox="1"/>
          <p:nvPr/>
        </p:nvSpPr>
        <p:spPr>
          <a:xfrm>
            <a:off x="450167" y="5162843"/>
            <a:ext cx="11071274" cy="923330"/>
          </a:xfrm>
          <a:prstGeom prst="rect">
            <a:avLst/>
          </a:prstGeom>
          <a:noFill/>
        </p:spPr>
        <p:txBody>
          <a:bodyPr wrap="square" rtlCol="0">
            <a:spAutoFit/>
          </a:bodyPr>
          <a:lstStyle/>
          <a:p>
            <a:r>
              <a:rPr lang="en-US" b="1" dirty="0"/>
              <a:t>Insight:</a:t>
            </a:r>
            <a:r>
              <a:rPr lang="en-US" dirty="0"/>
              <a:t> "Danceability is one of the strongest predictors of success. Songs with moderate-to-high danceability (scores of 0.6 and above) consistently achieve higher popularity, indicating a strong listener preference for tracks with a great groove." </a:t>
            </a:r>
          </a:p>
        </p:txBody>
      </p:sp>
    </p:spTree>
    <p:extLst>
      <p:ext uri="{BB962C8B-B14F-4D97-AF65-F5344CB8AC3E}">
        <p14:creationId xmlns:p14="http://schemas.microsoft.com/office/powerpoint/2010/main" val="3676912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1B5A-2435-22B4-3974-5195A7B19B6A}"/>
              </a:ext>
            </a:extLst>
          </p:cNvPr>
          <p:cNvSpPr>
            <a:spLocks noGrp="1"/>
          </p:cNvSpPr>
          <p:nvPr>
            <p:ph type="title"/>
          </p:nvPr>
        </p:nvSpPr>
        <p:spPr>
          <a:xfrm>
            <a:off x="222738" y="-194310"/>
            <a:ext cx="10353762" cy="1257300"/>
          </a:xfrm>
        </p:spPr>
        <p:txBody>
          <a:bodyPr/>
          <a:lstStyle/>
          <a:p>
            <a:r>
              <a:rPr lang="en-US" dirty="0"/>
              <a:t>Distribution of tempo</a:t>
            </a:r>
          </a:p>
        </p:txBody>
      </p:sp>
      <p:pic>
        <p:nvPicPr>
          <p:cNvPr id="5" name="Content Placeholder 4">
            <a:extLst>
              <a:ext uri="{FF2B5EF4-FFF2-40B4-BE49-F238E27FC236}">
                <a16:creationId xmlns:a16="http://schemas.microsoft.com/office/drawing/2014/main" id="{FEE80ED8-66E9-14A5-C422-EA73A88A10B1}"/>
              </a:ext>
            </a:extLst>
          </p:cNvPr>
          <p:cNvPicPr>
            <a:picLocks noGrp="1" noChangeAspect="1"/>
          </p:cNvPicPr>
          <p:nvPr>
            <p:ph idx="1"/>
          </p:nvPr>
        </p:nvPicPr>
        <p:blipFill>
          <a:blip r:embed="rId2"/>
          <a:srcRect l="3964" t="4536" r="6753" b="2629"/>
          <a:stretch>
            <a:fillRect/>
          </a:stretch>
        </p:blipFill>
        <p:spPr>
          <a:xfrm>
            <a:off x="222738" y="1215097"/>
            <a:ext cx="7920112" cy="4304713"/>
          </a:xfrm>
        </p:spPr>
      </p:pic>
      <p:sp>
        <p:nvSpPr>
          <p:cNvPr id="6" name="TextBox 5">
            <a:extLst>
              <a:ext uri="{FF2B5EF4-FFF2-40B4-BE49-F238E27FC236}">
                <a16:creationId xmlns:a16="http://schemas.microsoft.com/office/drawing/2014/main" id="{85220850-4534-6062-DA85-87D90849F6D2}"/>
              </a:ext>
            </a:extLst>
          </p:cNvPr>
          <p:cNvSpPr txBox="1"/>
          <p:nvPr/>
        </p:nvSpPr>
        <p:spPr>
          <a:xfrm>
            <a:off x="618978" y="5824025"/>
            <a:ext cx="11015004" cy="928467"/>
          </a:xfrm>
          <a:prstGeom prst="rect">
            <a:avLst/>
          </a:prstGeom>
          <a:noFill/>
        </p:spPr>
        <p:txBody>
          <a:bodyPr wrap="square" rtlCol="0">
            <a:spAutoFit/>
          </a:bodyPr>
          <a:lstStyle/>
          <a:p>
            <a:endParaRPr lang="en-US" dirty="0"/>
          </a:p>
        </p:txBody>
      </p:sp>
      <p:sp>
        <p:nvSpPr>
          <p:cNvPr id="7" name="TextBox 6">
            <a:extLst>
              <a:ext uri="{FF2B5EF4-FFF2-40B4-BE49-F238E27FC236}">
                <a16:creationId xmlns:a16="http://schemas.microsoft.com/office/drawing/2014/main" id="{18732774-B0D7-0076-965F-9976C5E1F019}"/>
              </a:ext>
            </a:extLst>
          </p:cNvPr>
          <p:cNvSpPr txBox="1"/>
          <p:nvPr/>
        </p:nvSpPr>
        <p:spPr>
          <a:xfrm>
            <a:off x="8454018" y="1257300"/>
            <a:ext cx="3515244" cy="3139321"/>
          </a:xfrm>
          <a:prstGeom prst="rect">
            <a:avLst/>
          </a:prstGeom>
          <a:noFill/>
        </p:spPr>
        <p:txBody>
          <a:bodyPr wrap="square" rtlCol="0">
            <a:spAutoFit/>
          </a:bodyPr>
          <a:lstStyle/>
          <a:p>
            <a:r>
              <a:rPr lang="en-US" dirty="0"/>
              <a:t>The data indicates that a majority of song tempos fall within the 90-140 BPM range, peaking at approximately 120 BPM. To achieve commercial success, particularly in the pop or dance genres, it is advisable to target a tempo between 100-130 BPM. This specific range is effective as it corresponds to the natural rhythm of the human body and is conducive to dancing.</a:t>
            </a:r>
          </a:p>
        </p:txBody>
      </p:sp>
    </p:spTree>
    <p:extLst>
      <p:ext uri="{BB962C8B-B14F-4D97-AF65-F5344CB8AC3E}">
        <p14:creationId xmlns:p14="http://schemas.microsoft.com/office/powerpoint/2010/main" val="3399106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E254F-E4BC-92E0-A2E3-8BA6FB08AA6E}"/>
              </a:ext>
            </a:extLst>
          </p:cNvPr>
          <p:cNvSpPr>
            <a:spLocks noGrp="1"/>
          </p:cNvSpPr>
          <p:nvPr>
            <p:ph type="title"/>
          </p:nvPr>
        </p:nvSpPr>
        <p:spPr>
          <a:xfrm>
            <a:off x="145396" y="-211016"/>
            <a:ext cx="10353762" cy="1541878"/>
          </a:xfrm>
        </p:spPr>
        <p:txBody>
          <a:bodyPr/>
          <a:lstStyle/>
          <a:p>
            <a:r>
              <a:rPr lang="en-US" dirty="0"/>
              <a:t>   Energy distribution</a:t>
            </a:r>
          </a:p>
        </p:txBody>
      </p:sp>
      <p:pic>
        <p:nvPicPr>
          <p:cNvPr id="5" name="Content Placeholder 4">
            <a:extLst>
              <a:ext uri="{FF2B5EF4-FFF2-40B4-BE49-F238E27FC236}">
                <a16:creationId xmlns:a16="http://schemas.microsoft.com/office/drawing/2014/main" id="{9A4E7376-DAF5-2943-BB2F-D96FE6514851}"/>
              </a:ext>
            </a:extLst>
          </p:cNvPr>
          <p:cNvPicPr>
            <a:picLocks noGrp="1" noChangeAspect="1"/>
          </p:cNvPicPr>
          <p:nvPr>
            <p:ph idx="1"/>
          </p:nvPr>
        </p:nvPicPr>
        <p:blipFill>
          <a:blip r:embed="rId2"/>
          <a:stretch>
            <a:fillRect/>
          </a:stretch>
        </p:blipFill>
        <p:spPr>
          <a:xfrm>
            <a:off x="145396" y="1330862"/>
            <a:ext cx="7018921" cy="4324351"/>
          </a:xfrm>
          <a:prstGeom prst="rect">
            <a:avLst/>
          </a:prstGeom>
          <a:effectLst>
            <a:outerShdw blurRad="25400" dir="17880000">
              <a:srgbClr val="000000">
                <a:alpha val="46000"/>
              </a:srgbClr>
            </a:outerShdw>
          </a:effectLst>
        </p:spPr>
      </p:pic>
      <p:sp>
        <p:nvSpPr>
          <p:cNvPr id="6" name="TextBox 5">
            <a:extLst>
              <a:ext uri="{FF2B5EF4-FFF2-40B4-BE49-F238E27FC236}">
                <a16:creationId xmlns:a16="http://schemas.microsoft.com/office/drawing/2014/main" id="{907D1C79-D0B3-0C6D-D5CB-8F936231C586}"/>
              </a:ext>
            </a:extLst>
          </p:cNvPr>
          <p:cNvSpPr txBox="1"/>
          <p:nvPr/>
        </p:nvSpPr>
        <p:spPr>
          <a:xfrm>
            <a:off x="7540283" y="1330862"/>
            <a:ext cx="4375052" cy="3416320"/>
          </a:xfrm>
          <a:prstGeom prst="rect">
            <a:avLst/>
          </a:prstGeom>
          <a:noFill/>
        </p:spPr>
        <p:txBody>
          <a:bodyPr wrap="square" rtlCol="0">
            <a:spAutoFit/>
          </a:bodyPr>
          <a:lstStyle/>
          <a:p>
            <a:r>
              <a:rPr lang="en-US" dirty="0"/>
              <a:t>The dataset is clearly dominated by high-intensity music. The energy levels for most songs cluster in the 0.5 to 0.8 range, which points to a collection rich with lively and upbeat tracks. In contrast, songs with very low energy—such as slow ballads or soft acoustic pieces—are far less frequent. The distribution also shows a slight right skew, indicating a small tail of exceptionally high-energy songs that likely represent popular dance or electronic hits.</a:t>
            </a:r>
          </a:p>
          <a:p>
            <a:endParaRPr lang="en-US" dirty="0"/>
          </a:p>
        </p:txBody>
      </p:sp>
    </p:spTree>
    <p:extLst>
      <p:ext uri="{BB962C8B-B14F-4D97-AF65-F5344CB8AC3E}">
        <p14:creationId xmlns:p14="http://schemas.microsoft.com/office/powerpoint/2010/main" val="4224572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7B1B-12C7-A186-279C-EC253DAF1CB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F29BBF85-C211-D58C-9A37-2132FEAD263F}"/>
              </a:ext>
            </a:extLst>
          </p:cNvPr>
          <p:cNvSpPr txBox="1"/>
          <p:nvPr/>
        </p:nvSpPr>
        <p:spPr>
          <a:xfrm>
            <a:off x="1026942" y="829995"/>
            <a:ext cx="9875520" cy="4832092"/>
          </a:xfrm>
          <a:prstGeom prst="rect">
            <a:avLst/>
          </a:prstGeom>
          <a:noFill/>
        </p:spPr>
        <p:txBody>
          <a:bodyPr wrap="square" rtlCol="0">
            <a:spAutoFit/>
          </a:bodyPr>
          <a:lstStyle/>
          <a:p>
            <a:r>
              <a:rPr lang="en-US" sz="2400" b="1" dirty="0"/>
              <a:t>⭐ Key Insights from the univariate Analysis</a:t>
            </a:r>
          </a:p>
          <a:p>
            <a:endParaRPr lang="en-US" sz="2400" b="1" dirty="0"/>
          </a:p>
          <a:p>
            <a:pPr marL="342900" indent="-342900">
              <a:buFont typeface="Arial" panose="020B0604020202020204" pitchFamily="34" charset="0"/>
              <a:buChar char="•"/>
            </a:pPr>
            <a:r>
              <a:rPr lang="en-US" sz="2000" dirty="0"/>
              <a:t>Popularity is heavily right–skewed, meaning only a small percentage of songs achieve high listener engagement. </a:t>
            </a:r>
          </a:p>
          <a:p>
            <a:pPr marL="342900" indent="-342900">
              <a:buFont typeface="Arial" panose="020B0604020202020204" pitchFamily="34" charset="0"/>
              <a:buChar char="•"/>
            </a:pPr>
            <a:r>
              <a:rPr lang="en-US" sz="2000" dirty="0"/>
              <a:t>Danceability is moderately high for most tracks, indicating that Spotify songs generally have a rhythmic, movement-friendly feel.</a:t>
            </a:r>
          </a:p>
          <a:p>
            <a:pPr marL="342900" indent="-342900">
              <a:buFont typeface="Arial" panose="020B0604020202020204" pitchFamily="34" charset="0"/>
              <a:buChar char="•"/>
            </a:pPr>
            <a:r>
              <a:rPr lang="en-US" sz="2000" dirty="0"/>
              <a:t> Energy levels are high in majority of tracks, showing preference toward powerful, intense, lively music.  Valence (emotional positivity) mainly lies between 0 to 1, meaning listeners prefer happy songs rather than sad songs. </a:t>
            </a:r>
          </a:p>
          <a:p>
            <a:pPr marL="342900" indent="-342900">
              <a:buFont typeface="Arial" panose="020B0604020202020204" pitchFamily="34" charset="0"/>
              <a:buChar char="•"/>
            </a:pPr>
            <a:r>
              <a:rPr lang="en-US" sz="2000" dirty="0"/>
              <a:t>Tempo clusters around ~100–130 BPM, suggesting most tracks follow typical human preferred rhythm ranges. </a:t>
            </a:r>
          </a:p>
          <a:p>
            <a:pPr marL="342900" indent="-342900">
              <a:buFont typeface="Arial" panose="020B0604020202020204" pitchFamily="34" charset="0"/>
              <a:buChar char="•"/>
            </a:pPr>
            <a:r>
              <a:rPr lang="en-US" sz="2000" dirty="0"/>
              <a:t>Language distribution shows dominance of one main language, with others forming minor segments — indicating asymmetric linguistic representation.</a:t>
            </a:r>
          </a:p>
          <a:p>
            <a:pPr marL="342900" indent="-342900">
              <a:buFont typeface="Arial" panose="020B0604020202020204" pitchFamily="34" charset="0"/>
              <a:buChar char="•"/>
            </a:pPr>
            <a:r>
              <a:rPr lang="en-US" sz="2000" dirty="0"/>
              <a:t> Year-group distribution shows majority of tracks from modern eras (2010–2020), 16 suggesting dataset bias toward recent streaming-era content </a:t>
            </a:r>
          </a:p>
        </p:txBody>
      </p:sp>
    </p:spTree>
    <p:extLst>
      <p:ext uri="{BB962C8B-B14F-4D97-AF65-F5344CB8AC3E}">
        <p14:creationId xmlns:p14="http://schemas.microsoft.com/office/powerpoint/2010/main" val="2045523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35907-3DE7-9905-BEE5-D0BD747D3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05C22-B59C-38DE-A862-04148E6D93E9}"/>
              </a:ext>
            </a:extLst>
          </p:cNvPr>
          <p:cNvSpPr>
            <a:spLocks noGrp="1"/>
          </p:cNvSpPr>
          <p:nvPr>
            <p:ph type="title"/>
          </p:nvPr>
        </p:nvSpPr>
        <p:spPr>
          <a:xfrm>
            <a:off x="398614" y="-478302"/>
            <a:ext cx="10353762" cy="1541878"/>
          </a:xfrm>
        </p:spPr>
        <p:txBody>
          <a:bodyPr>
            <a:normAutofit/>
          </a:bodyPr>
          <a:lstStyle/>
          <a:p>
            <a:r>
              <a:rPr lang="en-US" sz="3600" dirty="0"/>
              <a:t>Bivariate Analysis</a:t>
            </a:r>
          </a:p>
        </p:txBody>
      </p:sp>
      <p:sp>
        <p:nvSpPr>
          <p:cNvPr id="6" name="TextBox 5">
            <a:extLst>
              <a:ext uri="{FF2B5EF4-FFF2-40B4-BE49-F238E27FC236}">
                <a16:creationId xmlns:a16="http://schemas.microsoft.com/office/drawing/2014/main" id="{C32DE85A-21FE-BF18-9A29-56B6FD0DEAC4}"/>
              </a:ext>
            </a:extLst>
          </p:cNvPr>
          <p:cNvSpPr txBox="1"/>
          <p:nvPr/>
        </p:nvSpPr>
        <p:spPr>
          <a:xfrm>
            <a:off x="398613" y="805668"/>
            <a:ext cx="9913005" cy="954107"/>
          </a:xfrm>
          <a:prstGeom prst="rect">
            <a:avLst/>
          </a:prstGeom>
          <a:noFill/>
        </p:spPr>
        <p:txBody>
          <a:bodyPr wrap="square" rtlCol="0">
            <a:spAutoFit/>
          </a:bodyPr>
          <a:lstStyle/>
          <a:p>
            <a:r>
              <a:rPr lang="en-US" sz="2000" b="1" dirty="0"/>
              <a:t>What is Bivariate Analysis? </a:t>
            </a:r>
          </a:p>
          <a:p>
            <a:r>
              <a:rPr lang="en-US" dirty="0"/>
              <a:t>Bivariate analysis examines the relationship between two variables to understand how changes in one affect the other.</a:t>
            </a:r>
          </a:p>
        </p:txBody>
      </p:sp>
      <p:sp>
        <p:nvSpPr>
          <p:cNvPr id="7" name="TextBox 6">
            <a:extLst>
              <a:ext uri="{FF2B5EF4-FFF2-40B4-BE49-F238E27FC236}">
                <a16:creationId xmlns:a16="http://schemas.microsoft.com/office/drawing/2014/main" id="{C66D7BCB-27C8-C288-01B9-F6CF9AD34DA0}"/>
              </a:ext>
            </a:extLst>
          </p:cNvPr>
          <p:cNvSpPr txBox="1"/>
          <p:nvPr/>
        </p:nvSpPr>
        <p:spPr>
          <a:xfrm>
            <a:off x="3737332" y="2347546"/>
            <a:ext cx="8276478" cy="3416320"/>
          </a:xfrm>
          <a:prstGeom prst="rect">
            <a:avLst/>
          </a:prstGeom>
          <a:noFill/>
        </p:spPr>
        <p:txBody>
          <a:bodyPr wrap="square" rtlCol="0">
            <a:spAutoFit/>
          </a:bodyPr>
          <a:lstStyle/>
          <a:p>
            <a:r>
              <a:rPr lang="en-US" sz="2400" b="1" dirty="0"/>
              <a:t> Why It Is Important?</a:t>
            </a:r>
          </a:p>
          <a:p>
            <a:endParaRPr lang="en-US" sz="2400" b="1" dirty="0"/>
          </a:p>
          <a:p>
            <a:pPr marL="342900" indent="-342900">
              <a:buFont typeface="Arial" panose="020B0604020202020204" pitchFamily="34" charset="0"/>
              <a:buChar char="•"/>
            </a:pPr>
            <a:r>
              <a:rPr lang="en-US" sz="2400" dirty="0"/>
              <a:t>Reveals </a:t>
            </a:r>
            <a:r>
              <a:rPr lang="en-US" sz="2400" b="1" dirty="0"/>
              <a:t>patterns, correlations, and trends</a:t>
            </a:r>
            <a:r>
              <a:rPr lang="en-US" sz="2400" dirty="0"/>
              <a:t> between two factors.</a:t>
            </a:r>
          </a:p>
          <a:p>
            <a:pPr marL="342900" indent="-342900">
              <a:buFont typeface="Arial" panose="020B0604020202020204" pitchFamily="34" charset="0"/>
              <a:buChar char="•"/>
            </a:pPr>
            <a:r>
              <a:rPr lang="en-US" sz="2400" dirty="0"/>
              <a:t>Helps identify which audio features may influence </a:t>
            </a:r>
            <a:r>
              <a:rPr lang="en-US" sz="2400" b="1" dirty="0"/>
              <a:t>song popularity</a:t>
            </a:r>
            <a:r>
              <a:rPr lang="en-US" sz="2400" dirty="0"/>
              <a:t>.</a:t>
            </a:r>
          </a:p>
          <a:p>
            <a:pPr marL="342900" indent="-342900">
              <a:buFont typeface="Arial" panose="020B0604020202020204" pitchFamily="34" charset="0"/>
              <a:buChar char="•"/>
            </a:pPr>
            <a:r>
              <a:rPr lang="en-US" sz="2400" dirty="0"/>
              <a:t>Allows comparison between two musical attributes to uncover </a:t>
            </a:r>
            <a:r>
              <a:rPr lang="en-US" sz="2400" b="1" dirty="0"/>
              <a:t>meaningful interactions</a:t>
            </a:r>
            <a:r>
              <a:rPr lang="en-US" sz="2400" dirty="0"/>
              <a:t>.</a:t>
            </a:r>
          </a:p>
          <a:p>
            <a:pPr marL="342900" indent="-342900">
              <a:buFont typeface="Arial" panose="020B0604020202020204" pitchFamily="34" charset="0"/>
              <a:buChar char="•"/>
            </a:pPr>
            <a:r>
              <a:rPr lang="en-US" sz="2400" dirty="0"/>
              <a:t>Supports deeper insights before moving to more complex multivariate analysis</a:t>
            </a:r>
          </a:p>
        </p:txBody>
      </p:sp>
    </p:spTree>
    <p:extLst>
      <p:ext uri="{BB962C8B-B14F-4D97-AF65-F5344CB8AC3E}">
        <p14:creationId xmlns:p14="http://schemas.microsoft.com/office/powerpoint/2010/main" val="3929708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CB1A6-9643-4449-D52B-C1461CB1B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2591B-BAB2-40DE-BA05-37680A6A86F5}"/>
              </a:ext>
            </a:extLst>
          </p:cNvPr>
          <p:cNvSpPr>
            <a:spLocks noGrp="1"/>
          </p:cNvSpPr>
          <p:nvPr>
            <p:ph type="title"/>
          </p:nvPr>
        </p:nvSpPr>
        <p:spPr>
          <a:xfrm>
            <a:off x="1574644" y="0"/>
            <a:ext cx="9032063" cy="1257300"/>
          </a:xfrm>
        </p:spPr>
        <p:txBody>
          <a:bodyPr/>
          <a:lstStyle/>
          <a:p>
            <a:r>
              <a:rPr lang="en-US" dirty="0"/>
              <a:t>POPULARITY VS DANCEABILITY</a:t>
            </a:r>
          </a:p>
        </p:txBody>
      </p:sp>
      <p:pic>
        <p:nvPicPr>
          <p:cNvPr id="5" name="Content Placeholder 4">
            <a:extLst>
              <a:ext uri="{FF2B5EF4-FFF2-40B4-BE49-F238E27FC236}">
                <a16:creationId xmlns:a16="http://schemas.microsoft.com/office/drawing/2014/main" id="{B04BD9C0-CB6A-7378-0E72-4BB476688924}"/>
              </a:ext>
            </a:extLst>
          </p:cNvPr>
          <p:cNvPicPr>
            <a:picLocks noGrp="1" noChangeAspect="1"/>
          </p:cNvPicPr>
          <p:nvPr>
            <p:ph idx="1"/>
          </p:nvPr>
        </p:nvPicPr>
        <p:blipFill>
          <a:blip r:embed="rId2"/>
          <a:stretch>
            <a:fillRect/>
          </a:stretch>
        </p:blipFill>
        <p:spPr>
          <a:xfrm>
            <a:off x="429273" y="1257300"/>
            <a:ext cx="7068438" cy="5199771"/>
          </a:xfrm>
          <a:prstGeom prst="rect">
            <a:avLst/>
          </a:prstGeom>
          <a:effectLst>
            <a:outerShdw blurRad="25400" dir="17880000">
              <a:srgbClr val="000000">
                <a:alpha val="46000"/>
              </a:srgbClr>
            </a:outerShdw>
          </a:effectLst>
        </p:spPr>
      </p:pic>
      <p:sp>
        <p:nvSpPr>
          <p:cNvPr id="10" name="TextBox 9">
            <a:extLst>
              <a:ext uri="{FF2B5EF4-FFF2-40B4-BE49-F238E27FC236}">
                <a16:creationId xmlns:a16="http://schemas.microsoft.com/office/drawing/2014/main" id="{5A217FFA-0F50-939C-6EE0-37731F263089}"/>
              </a:ext>
            </a:extLst>
          </p:cNvPr>
          <p:cNvSpPr txBox="1"/>
          <p:nvPr/>
        </p:nvSpPr>
        <p:spPr>
          <a:xfrm>
            <a:off x="7880044" y="1997839"/>
            <a:ext cx="4009292" cy="2862322"/>
          </a:xfrm>
          <a:prstGeom prst="rect">
            <a:avLst/>
          </a:prstGeom>
          <a:noFill/>
        </p:spPr>
        <p:txBody>
          <a:bodyPr wrap="square" rtlCol="0">
            <a:spAutoFit/>
          </a:bodyPr>
          <a:lstStyle/>
          <a:p>
            <a:r>
              <a:rPr lang="en-US" dirty="0"/>
              <a:t>Higher danceability is loosely associated with increased popularity, but the connection is not strong. Popularity varies greatly even for songs with similar danceability ratings, proving that being "danceable" is not a sole predictor of a hit. The success of some highly popular songs with lower danceability scores highlights the major impact of external factors like artist recognition and marketing.</a:t>
            </a:r>
          </a:p>
        </p:txBody>
      </p:sp>
    </p:spTree>
    <p:extLst>
      <p:ext uri="{BB962C8B-B14F-4D97-AF65-F5344CB8AC3E}">
        <p14:creationId xmlns:p14="http://schemas.microsoft.com/office/powerpoint/2010/main" val="2309869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77DD-52F9-C0A1-2C89-EB17F4F39A2C}"/>
              </a:ext>
            </a:extLst>
          </p:cNvPr>
          <p:cNvSpPr>
            <a:spLocks noGrp="1"/>
          </p:cNvSpPr>
          <p:nvPr>
            <p:ph type="title"/>
          </p:nvPr>
        </p:nvSpPr>
        <p:spPr>
          <a:xfrm>
            <a:off x="595230" y="0"/>
            <a:ext cx="11001540" cy="1064455"/>
          </a:xfrm>
        </p:spPr>
        <p:txBody>
          <a:bodyPr>
            <a:normAutofit fontScale="90000"/>
          </a:bodyPr>
          <a:lstStyle/>
          <a:p>
            <a:r>
              <a:rPr lang="en-US" dirty="0"/>
              <a:t>AVERAGE POPULARITY VS ACOUSTICNESS</a:t>
            </a:r>
          </a:p>
        </p:txBody>
      </p:sp>
      <p:pic>
        <p:nvPicPr>
          <p:cNvPr id="5" name="Content Placeholder 4">
            <a:extLst>
              <a:ext uri="{FF2B5EF4-FFF2-40B4-BE49-F238E27FC236}">
                <a16:creationId xmlns:a16="http://schemas.microsoft.com/office/drawing/2014/main" id="{8B5949B8-A5C1-070C-246A-D6F9649EFCBA}"/>
              </a:ext>
            </a:extLst>
          </p:cNvPr>
          <p:cNvPicPr>
            <a:picLocks noGrp="1" noChangeAspect="1"/>
          </p:cNvPicPr>
          <p:nvPr>
            <p:ph idx="1"/>
          </p:nvPr>
        </p:nvPicPr>
        <p:blipFill>
          <a:blip r:embed="rId2"/>
          <a:stretch>
            <a:fillRect/>
          </a:stretch>
        </p:blipFill>
        <p:spPr>
          <a:xfrm>
            <a:off x="343860" y="1176777"/>
            <a:ext cx="7079963" cy="5083345"/>
          </a:xfrm>
          <a:prstGeom prst="rect">
            <a:avLst/>
          </a:prstGeom>
          <a:effectLst>
            <a:outerShdw blurRad="25400" dir="17880000">
              <a:srgbClr val="000000">
                <a:alpha val="46000"/>
              </a:srgbClr>
            </a:outerShdw>
          </a:effectLst>
        </p:spPr>
      </p:pic>
      <p:sp>
        <p:nvSpPr>
          <p:cNvPr id="7" name="TextBox 6">
            <a:extLst>
              <a:ext uri="{FF2B5EF4-FFF2-40B4-BE49-F238E27FC236}">
                <a16:creationId xmlns:a16="http://schemas.microsoft.com/office/drawing/2014/main" id="{C9C3E2DF-B5C5-B705-43E8-DF3EA0ABA81A}"/>
              </a:ext>
            </a:extLst>
          </p:cNvPr>
          <p:cNvSpPr txBox="1"/>
          <p:nvPr/>
        </p:nvSpPr>
        <p:spPr>
          <a:xfrm>
            <a:off x="7849773" y="1443841"/>
            <a:ext cx="4206240" cy="3970318"/>
          </a:xfrm>
          <a:prstGeom prst="rect">
            <a:avLst/>
          </a:prstGeom>
          <a:noFill/>
        </p:spPr>
        <p:txBody>
          <a:bodyPr wrap="square" rtlCol="0">
            <a:spAutoFit/>
          </a:bodyPr>
          <a:lstStyle/>
          <a:p>
            <a:r>
              <a:rPr lang="en-US" dirty="0"/>
              <a:t>The analysis of </a:t>
            </a:r>
            <a:r>
              <a:rPr lang="en-US" dirty="0" err="1"/>
              <a:t>acousticness</a:t>
            </a:r>
            <a:r>
              <a:rPr lang="en-US" dirty="0"/>
              <a:t> reveals a clear "sweet spot" in listener preference. On one end, heavily electronic or produced tracks (low </a:t>
            </a:r>
            <a:r>
              <a:rPr lang="en-US" dirty="0" err="1"/>
              <a:t>acousticness</a:t>
            </a:r>
            <a:r>
              <a:rPr lang="en-US" dirty="0"/>
              <a:t>) typically achieve a moderate level of popularity. On the opposite end, songs that are purely acoustic or "unplugged" (high </a:t>
            </a:r>
            <a:r>
              <a:rPr lang="en-US" dirty="0" err="1"/>
              <a:t>acousticness</a:t>
            </a:r>
            <a:r>
              <a:rPr lang="en-US" dirty="0"/>
              <a:t>) generally have the lowest popularity scores. The most successful songs, however, are those that strike a balance between acoustic instruments and electronic production, consistently achieving the highest popularity and suggesting this hybrid sound has the broadest appeal.</a:t>
            </a:r>
          </a:p>
        </p:txBody>
      </p:sp>
    </p:spTree>
    <p:extLst>
      <p:ext uri="{BB962C8B-B14F-4D97-AF65-F5344CB8AC3E}">
        <p14:creationId xmlns:p14="http://schemas.microsoft.com/office/powerpoint/2010/main" val="722947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67189-077D-7007-A444-032905E72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FCEFE1-D675-4729-535E-5DDBA96344A8}"/>
              </a:ext>
            </a:extLst>
          </p:cNvPr>
          <p:cNvSpPr>
            <a:spLocks noGrp="1"/>
          </p:cNvSpPr>
          <p:nvPr>
            <p:ph type="title"/>
          </p:nvPr>
        </p:nvSpPr>
        <p:spPr>
          <a:xfrm>
            <a:off x="595230" y="0"/>
            <a:ext cx="11001540" cy="1064455"/>
          </a:xfrm>
        </p:spPr>
        <p:txBody>
          <a:bodyPr>
            <a:normAutofit/>
          </a:bodyPr>
          <a:lstStyle/>
          <a:p>
            <a:r>
              <a:rPr lang="en-US" dirty="0"/>
              <a:t>POPULARITY VS TEMPO</a:t>
            </a:r>
          </a:p>
        </p:txBody>
      </p:sp>
      <p:pic>
        <p:nvPicPr>
          <p:cNvPr id="5" name="Content Placeholder 4">
            <a:extLst>
              <a:ext uri="{FF2B5EF4-FFF2-40B4-BE49-F238E27FC236}">
                <a16:creationId xmlns:a16="http://schemas.microsoft.com/office/drawing/2014/main" id="{5B0109C0-2AAF-1AA0-4A9E-6467B1F4301B}"/>
              </a:ext>
            </a:extLst>
          </p:cNvPr>
          <p:cNvPicPr>
            <a:picLocks noGrp="1" noChangeAspect="1"/>
          </p:cNvPicPr>
          <p:nvPr>
            <p:ph idx="1"/>
          </p:nvPr>
        </p:nvPicPr>
        <p:blipFill>
          <a:blip r:embed="rId2"/>
          <a:stretch>
            <a:fillRect/>
          </a:stretch>
        </p:blipFill>
        <p:spPr>
          <a:xfrm>
            <a:off x="343860" y="1176777"/>
            <a:ext cx="7079963" cy="5083345"/>
          </a:xfrm>
          <a:prstGeom prst="rect">
            <a:avLst/>
          </a:prstGeom>
          <a:effectLst>
            <a:outerShdw blurRad="25400" dir="17880000">
              <a:srgbClr val="000000">
                <a:alpha val="46000"/>
              </a:srgbClr>
            </a:outerShdw>
          </a:effectLst>
        </p:spPr>
      </p:pic>
      <p:sp>
        <p:nvSpPr>
          <p:cNvPr id="7" name="TextBox 6">
            <a:extLst>
              <a:ext uri="{FF2B5EF4-FFF2-40B4-BE49-F238E27FC236}">
                <a16:creationId xmlns:a16="http://schemas.microsoft.com/office/drawing/2014/main" id="{BB20C7B1-F895-1773-97F6-AA1E7037EA51}"/>
              </a:ext>
            </a:extLst>
          </p:cNvPr>
          <p:cNvSpPr txBox="1"/>
          <p:nvPr/>
        </p:nvSpPr>
        <p:spPr>
          <a:xfrm>
            <a:off x="7641900" y="1443841"/>
            <a:ext cx="420624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Popularity varies across different tempo groups, with </a:t>
            </a:r>
            <a:r>
              <a:rPr lang="en-US" b="1" dirty="0"/>
              <a:t>no single tempo range dominating</a:t>
            </a:r>
            <a:r>
              <a:rPr lang="en-US" dirty="0"/>
              <a:t> all others.</a:t>
            </a:r>
          </a:p>
          <a:p>
            <a:pPr marL="285750" indent="-285750">
              <a:buFont typeface="Arial" panose="020B0604020202020204" pitchFamily="34" charset="0"/>
              <a:buChar char="•"/>
            </a:pPr>
            <a:r>
              <a:rPr lang="en-US" b="1" dirty="0"/>
              <a:t>Moderate to fast tempos (90–150 BPM)</a:t>
            </a:r>
            <a:r>
              <a:rPr lang="en-US" dirty="0"/>
              <a:t> generally show </a:t>
            </a:r>
            <a:r>
              <a:rPr lang="en-US" b="1" dirty="0"/>
              <a:t>higher average popularity</a:t>
            </a:r>
            <a:r>
              <a:rPr lang="en-US" dirty="0"/>
              <a:t>, reflecting common trends in pop and dance music.</a:t>
            </a:r>
          </a:p>
          <a:p>
            <a:pPr marL="285750" indent="-285750">
              <a:buFont typeface="Arial" panose="020B0604020202020204" pitchFamily="34" charset="0"/>
              <a:buChar char="•"/>
            </a:pPr>
            <a:r>
              <a:rPr lang="en-US" dirty="0"/>
              <a:t>Very slow and very fast songs show </a:t>
            </a:r>
            <a:r>
              <a:rPr lang="en-US" b="1" dirty="0"/>
              <a:t>lower average popularity</a:t>
            </a:r>
            <a:r>
              <a:rPr lang="en-US" dirty="0"/>
              <a:t>, suggesting listeners prefer mid-range tempos.</a:t>
            </a:r>
          </a:p>
          <a:p>
            <a:pPr marL="285750" indent="-285750">
              <a:buFont typeface="Arial" panose="020B0604020202020204" pitchFamily="34" charset="0"/>
              <a:buChar char="•"/>
            </a:pPr>
            <a:r>
              <a:rPr lang="en-US" dirty="0"/>
              <a:t>Overall, the analysis shows that </a:t>
            </a:r>
            <a:r>
              <a:rPr lang="en-US" b="1" dirty="0"/>
              <a:t>tempo influences popularity</a:t>
            </a:r>
            <a:r>
              <a:rPr lang="en-US" dirty="0"/>
              <a:t>, but it is </a:t>
            </a:r>
            <a:r>
              <a:rPr lang="en-US" b="1" dirty="0"/>
              <a:t>not the only factor</a:t>
            </a:r>
            <a:r>
              <a:rPr lang="en-US" dirty="0"/>
              <a:t>, as hits exist in every tempo category.</a:t>
            </a:r>
          </a:p>
        </p:txBody>
      </p:sp>
      <p:pic>
        <p:nvPicPr>
          <p:cNvPr id="4" name="Picture 3">
            <a:extLst>
              <a:ext uri="{FF2B5EF4-FFF2-40B4-BE49-F238E27FC236}">
                <a16:creationId xmlns:a16="http://schemas.microsoft.com/office/drawing/2014/main" id="{8DEDA54A-1129-58B6-9DF7-1F026DD70174}"/>
              </a:ext>
            </a:extLst>
          </p:cNvPr>
          <p:cNvPicPr>
            <a:picLocks noChangeAspect="1"/>
          </p:cNvPicPr>
          <p:nvPr/>
        </p:nvPicPr>
        <p:blipFill>
          <a:blip r:embed="rId3"/>
          <a:stretch>
            <a:fillRect/>
          </a:stretch>
        </p:blipFill>
        <p:spPr>
          <a:xfrm>
            <a:off x="135987" y="1064455"/>
            <a:ext cx="7287836" cy="5195667"/>
          </a:xfrm>
          <a:prstGeom prst="rect">
            <a:avLst/>
          </a:prstGeom>
        </p:spPr>
      </p:pic>
    </p:spTree>
    <p:extLst>
      <p:ext uri="{BB962C8B-B14F-4D97-AF65-F5344CB8AC3E}">
        <p14:creationId xmlns:p14="http://schemas.microsoft.com/office/powerpoint/2010/main" val="2679343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12ECF-0EBA-C654-7763-835F2C1C40F8}"/>
              </a:ext>
            </a:extLst>
          </p:cNvPr>
          <p:cNvSpPr>
            <a:spLocks noGrp="1"/>
          </p:cNvSpPr>
          <p:nvPr>
            <p:ph type="title"/>
          </p:nvPr>
        </p:nvSpPr>
        <p:spPr>
          <a:xfrm>
            <a:off x="919119" y="-267286"/>
            <a:ext cx="10353762" cy="1599614"/>
          </a:xfrm>
        </p:spPr>
        <p:txBody>
          <a:bodyPr/>
          <a:lstStyle/>
          <a:p>
            <a:r>
              <a:rPr lang="en-US" dirty="0"/>
              <a:t>TOP ARTISTS BY AVG POPULARITY</a:t>
            </a:r>
          </a:p>
        </p:txBody>
      </p:sp>
      <p:pic>
        <p:nvPicPr>
          <p:cNvPr id="5" name="Content Placeholder 4">
            <a:extLst>
              <a:ext uri="{FF2B5EF4-FFF2-40B4-BE49-F238E27FC236}">
                <a16:creationId xmlns:a16="http://schemas.microsoft.com/office/drawing/2014/main" id="{E725C579-F991-E092-15CB-CB417B9E9DD1}"/>
              </a:ext>
            </a:extLst>
          </p:cNvPr>
          <p:cNvPicPr>
            <a:picLocks noGrp="1" noChangeAspect="1"/>
          </p:cNvPicPr>
          <p:nvPr>
            <p:ph idx="1"/>
          </p:nvPr>
        </p:nvPicPr>
        <p:blipFill>
          <a:blip r:embed="rId2"/>
          <a:stretch>
            <a:fillRect/>
          </a:stretch>
        </p:blipFill>
        <p:spPr>
          <a:xfrm>
            <a:off x="676033" y="1571624"/>
            <a:ext cx="6979639" cy="4632227"/>
          </a:xfrm>
          <a:prstGeom prst="rect">
            <a:avLst/>
          </a:prstGeom>
          <a:effectLst>
            <a:outerShdw blurRad="25400" dir="17880000">
              <a:srgbClr val="000000">
                <a:alpha val="46000"/>
              </a:srgbClr>
            </a:outerShdw>
          </a:effectLst>
        </p:spPr>
      </p:pic>
      <p:sp>
        <p:nvSpPr>
          <p:cNvPr id="8" name="TextBox 7">
            <a:extLst>
              <a:ext uri="{FF2B5EF4-FFF2-40B4-BE49-F238E27FC236}">
                <a16:creationId xmlns:a16="http://schemas.microsoft.com/office/drawing/2014/main" id="{BBF38AB1-EB8B-E9AE-CDC7-F59D49C7C363}"/>
              </a:ext>
            </a:extLst>
          </p:cNvPr>
          <p:cNvSpPr txBox="1"/>
          <p:nvPr/>
        </p:nvSpPr>
        <p:spPr>
          <a:xfrm>
            <a:off x="8086578" y="1882726"/>
            <a:ext cx="3938954" cy="4632227"/>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E978FE12-82EC-1EF8-83E0-AADFEC7DE9E4}"/>
              </a:ext>
            </a:extLst>
          </p:cNvPr>
          <p:cNvSpPr txBox="1"/>
          <p:nvPr/>
        </p:nvSpPr>
        <p:spPr>
          <a:xfrm>
            <a:off x="8238978" y="2008602"/>
            <a:ext cx="3938954" cy="4632227"/>
          </a:xfrm>
          <a:prstGeom prst="rect">
            <a:avLst/>
          </a:prstGeom>
          <a:noFill/>
        </p:spPr>
        <p:txBody>
          <a:bodyPr wrap="square" rtlCol="0">
            <a:spAutoFit/>
          </a:bodyPr>
          <a:lstStyle/>
          <a:p>
            <a:endParaRPr lang="en-US" dirty="0"/>
          </a:p>
        </p:txBody>
      </p:sp>
      <p:sp>
        <p:nvSpPr>
          <p:cNvPr id="11" name="TextBox 10">
            <a:extLst>
              <a:ext uri="{FF2B5EF4-FFF2-40B4-BE49-F238E27FC236}">
                <a16:creationId xmlns:a16="http://schemas.microsoft.com/office/drawing/2014/main" id="{CB6C2D62-F699-D293-C2A4-9A100BC50120}"/>
              </a:ext>
            </a:extLst>
          </p:cNvPr>
          <p:cNvSpPr txBox="1"/>
          <p:nvPr/>
        </p:nvSpPr>
        <p:spPr>
          <a:xfrm>
            <a:off x="7863840" y="1571624"/>
            <a:ext cx="4161692" cy="3693319"/>
          </a:xfrm>
          <a:prstGeom prst="rect">
            <a:avLst/>
          </a:prstGeom>
          <a:noFill/>
        </p:spPr>
        <p:txBody>
          <a:bodyPr wrap="square" rtlCol="0">
            <a:spAutoFit/>
          </a:bodyPr>
          <a:lstStyle/>
          <a:p>
            <a:r>
              <a:rPr lang="en-US" dirty="0"/>
              <a:t>The analysis shows that a select group of artists consistently achieves high average popularity across their catalog, a sign of their strong fanbase or significant mainstream appeal. To ensure the ranking reflects sustained success rather than just a single hit, only artists with five or more tracks were considered. A noticeable gap in performance often exists between the top-ranked artists and the rest, indicating that a few performers significantly outperform their peers in terms of audience reach.</a:t>
            </a:r>
          </a:p>
          <a:p>
            <a:endParaRPr lang="en-US" dirty="0"/>
          </a:p>
        </p:txBody>
      </p:sp>
    </p:spTree>
    <p:extLst>
      <p:ext uri="{BB962C8B-B14F-4D97-AF65-F5344CB8AC3E}">
        <p14:creationId xmlns:p14="http://schemas.microsoft.com/office/powerpoint/2010/main" val="327112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785F-CE71-E5F0-8008-21586D462484}"/>
              </a:ext>
            </a:extLst>
          </p:cNvPr>
          <p:cNvSpPr>
            <a:spLocks noGrp="1"/>
          </p:cNvSpPr>
          <p:nvPr>
            <p:ph type="title"/>
          </p:nvPr>
        </p:nvSpPr>
        <p:spPr>
          <a:xfrm>
            <a:off x="913795" y="-42203"/>
            <a:ext cx="10621713" cy="1322363"/>
          </a:xfrm>
        </p:spPr>
        <p:txBody>
          <a:bodyPr>
            <a:normAutofit fontScale="90000"/>
          </a:bodyPr>
          <a:lstStyle/>
          <a:p>
            <a:r>
              <a:rPr lang="en-US" dirty="0"/>
              <a:t>POPULARITY VS ENERGY (BY LANGUAGE)</a:t>
            </a:r>
          </a:p>
        </p:txBody>
      </p:sp>
      <p:pic>
        <p:nvPicPr>
          <p:cNvPr id="5" name="Content Placeholder 4">
            <a:extLst>
              <a:ext uri="{FF2B5EF4-FFF2-40B4-BE49-F238E27FC236}">
                <a16:creationId xmlns:a16="http://schemas.microsoft.com/office/drawing/2014/main" id="{9104382C-7786-61DF-D67F-668ED535BFB2}"/>
              </a:ext>
            </a:extLst>
          </p:cNvPr>
          <p:cNvPicPr>
            <a:picLocks noGrp="1" noChangeAspect="1"/>
          </p:cNvPicPr>
          <p:nvPr>
            <p:ph idx="1"/>
          </p:nvPr>
        </p:nvPicPr>
        <p:blipFill>
          <a:blip r:embed="rId2"/>
          <a:stretch>
            <a:fillRect/>
          </a:stretch>
        </p:blipFill>
        <p:spPr>
          <a:xfrm>
            <a:off x="557273" y="1571625"/>
            <a:ext cx="6645385" cy="4946404"/>
          </a:xfrm>
          <a:prstGeom prst="rect">
            <a:avLst/>
          </a:prstGeom>
          <a:effectLst>
            <a:outerShdw blurRad="25400" dir="17880000">
              <a:srgbClr val="000000">
                <a:alpha val="46000"/>
              </a:srgbClr>
            </a:outerShdw>
          </a:effectLst>
        </p:spPr>
      </p:pic>
      <p:sp>
        <p:nvSpPr>
          <p:cNvPr id="6" name="TextBox 5">
            <a:extLst>
              <a:ext uri="{FF2B5EF4-FFF2-40B4-BE49-F238E27FC236}">
                <a16:creationId xmlns:a16="http://schemas.microsoft.com/office/drawing/2014/main" id="{42ABA3B9-B202-A5A0-E062-52D138B3EC86}"/>
              </a:ext>
            </a:extLst>
          </p:cNvPr>
          <p:cNvSpPr txBox="1"/>
          <p:nvPr/>
        </p:nvSpPr>
        <p:spPr>
          <a:xfrm>
            <a:off x="7484012" y="1571625"/>
            <a:ext cx="4051496" cy="4389120"/>
          </a:xfrm>
          <a:prstGeom prst="rect">
            <a:avLst/>
          </a:prstGeom>
          <a:noFill/>
        </p:spPr>
        <p:txBody>
          <a:bodyPr wrap="square" rtlCol="0">
            <a:spAutoFit/>
          </a:bodyPr>
          <a:lstStyle/>
          <a:p>
            <a:r>
              <a:rPr lang="en-US"/>
              <a:t>Across most languages, there is a moderate positive trend suggesting that songs with higher energy levels are often slightly more popular, although this connection is not definitive. The data also reveals language-specific patterns, with languages like English and Spanish being more prevalent in the high-energy, high-popularity quadrant, indicating that hit songs are more common in these larger markets. However, popularity scores vary widely at all energy levels, which confirms that energy alone doesn't guarantee a song's success and that language likely plays a key role in its potential audience reach.</a:t>
            </a:r>
            <a:endParaRPr lang="en-US" dirty="0"/>
          </a:p>
        </p:txBody>
      </p:sp>
    </p:spTree>
    <p:extLst>
      <p:ext uri="{BB962C8B-B14F-4D97-AF65-F5344CB8AC3E}">
        <p14:creationId xmlns:p14="http://schemas.microsoft.com/office/powerpoint/2010/main" val="1000276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F678-93CF-EA28-D0E1-9D49D843FFAD}"/>
              </a:ext>
            </a:extLst>
          </p:cNvPr>
          <p:cNvSpPr>
            <a:spLocks noGrp="1"/>
          </p:cNvSpPr>
          <p:nvPr>
            <p:ph type="title"/>
          </p:nvPr>
        </p:nvSpPr>
        <p:spPr>
          <a:xfrm>
            <a:off x="913795" y="323558"/>
            <a:ext cx="10353762" cy="1012874"/>
          </a:xfrm>
        </p:spPr>
        <p:txBody>
          <a:bodyPr>
            <a:normAutofit fontScale="90000"/>
          </a:bodyPr>
          <a:lstStyle/>
          <a:p>
            <a:r>
              <a:rPr lang="en-US" dirty="0"/>
              <a:t>LANGUAGE VS POPULARITY (BOXPLOT)</a:t>
            </a:r>
            <a:endParaRPr lang="en-US" b="1" dirty="0"/>
          </a:p>
        </p:txBody>
      </p:sp>
      <p:pic>
        <p:nvPicPr>
          <p:cNvPr id="5" name="Content Placeholder 4">
            <a:extLst>
              <a:ext uri="{FF2B5EF4-FFF2-40B4-BE49-F238E27FC236}">
                <a16:creationId xmlns:a16="http://schemas.microsoft.com/office/drawing/2014/main" id="{0221C2E7-B7AA-5B2F-AA52-CE8057EFFA7B}"/>
              </a:ext>
            </a:extLst>
          </p:cNvPr>
          <p:cNvPicPr>
            <a:picLocks noGrp="1" noChangeAspect="1"/>
          </p:cNvPicPr>
          <p:nvPr>
            <p:ph idx="1"/>
          </p:nvPr>
        </p:nvPicPr>
        <p:blipFill>
          <a:blip r:embed="rId2"/>
          <a:stretch>
            <a:fillRect/>
          </a:stretch>
        </p:blipFill>
        <p:spPr>
          <a:xfrm>
            <a:off x="471813" y="1571625"/>
            <a:ext cx="6270924" cy="4857310"/>
          </a:xfrm>
          <a:prstGeom prst="rect">
            <a:avLst/>
          </a:prstGeom>
          <a:effectLst>
            <a:outerShdw blurRad="25400" dir="17880000">
              <a:srgbClr val="000000">
                <a:alpha val="46000"/>
              </a:srgbClr>
            </a:outerShdw>
          </a:effectLst>
        </p:spPr>
      </p:pic>
      <p:sp>
        <p:nvSpPr>
          <p:cNvPr id="6" name="TextBox 5">
            <a:extLst>
              <a:ext uri="{FF2B5EF4-FFF2-40B4-BE49-F238E27FC236}">
                <a16:creationId xmlns:a16="http://schemas.microsoft.com/office/drawing/2014/main" id="{894F6E00-F7F0-9612-CF45-660D45FCC138}"/>
              </a:ext>
            </a:extLst>
          </p:cNvPr>
          <p:cNvSpPr txBox="1"/>
          <p:nvPr/>
        </p:nvSpPr>
        <p:spPr>
          <a:xfrm>
            <a:off x="7076049" y="1870055"/>
            <a:ext cx="4644138" cy="3416320"/>
          </a:xfrm>
          <a:prstGeom prst="rect">
            <a:avLst/>
          </a:prstGeom>
          <a:noFill/>
        </p:spPr>
        <p:txBody>
          <a:bodyPr wrap="square" rtlCol="0">
            <a:spAutoFit/>
          </a:bodyPr>
          <a:lstStyle/>
          <a:p>
            <a:r>
              <a:rPr lang="en-US" dirty="0"/>
              <a:t>The analysis shows that songs in English typically have a higher median popularity, which is likely a reflection of their broader global audience. However, success is not uniform within any language; there is significant variation in popularity, suggesting that a hit song can emerge in any language, even if the likelihoods differ. Furthermore, the existence of exceptionally popular non-English tracks demonstrates that a truly massive hit can transcend linguistic boundaries and defy general trends.</a:t>
            </a:r>
          </a:p>
          <a:p>
            <a:endParaRPr lang="en-US" dirty="0"/>
          </a:p>
        </p:txBody>
      </p:sp>
    </p:spTree>
    <p:extLst>
      <p:ext uri="{BB962C8B-B14F-4D97-AF65-F5344CB8AC3E}">
        <p14:creationId xmlns:p14="http://schemas.microsoft.com/office/powerpoint/2010/main" val="3100626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61316-4AEF-C043-C642-AEDEC47AFD3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F7C80EF6-1741-C9EA-071F-4CC481529E96}"/>
              </a:ext>
            </a:extLst>
          </p:cNvPr>
          <p:cNvSpPr txBox="1"/>
          <p:nvPr/>
        </p:nvSpPr>
        <p:spPr>
          <a:xfrm>
            <a:off x="689316" y="771161"/>
            <a:ext cx="10494499" cy="4893647"/>
          </a:xfrm>
          <a:prstGeom prst="rect">
            <a:avLst/>
          </a:prstGeom>
          <a:noFill/>
        </p:spPr>
        <p:txBody>
          <a:bodyPr wrap="square" rtlCol="0">
            <a:spAutoFit/>
          </a:bodyPr>
          <a:lstStyle/>
          <a:p>
            <a:r>
              <a:rPr lang="en-US" sz="2400" b="1" dirty="0"/>
              <a:t>⭐ Key Insights from Bivariate Analysis</a:t>
            </a:r>
          </a:p>
          <a:p>
            <a:pPr marL="342900" indent="-342900">
              <a:buFont typeface="Arial" panose="020B0604020202020204" pitchFamily="34" charset="0"/>
              <a:buChar char="•"/>
            </a:pPr>
            <a:r>
              <a:rPr lang="en-US" sz="2400" b="1" dirty="0"/>
              <a:t>Popularity increases mildly with higher danceability</a:t>
            </a:r>
            <a:r>
              <a:rPr lang="en-US" sz="2400" dirty="0"/>
              <a:t>, showing listeners prefer rhythmic and engaging songs.</a:t>
            </a:r>
          </a:p>
          <a:p>
            <a:pPr marL="342900" indent="-342900">
              <a:buFont typeface="Arial" panose="020B0604020202020204" pitchFamily="34" charset="0"/>
              <a:buChar char="•"/>
            </a:pPr>
            <a:r>
              <a:rPr lang="en-US" sz="2400" b="1" dirty="0"/>
              <a:t>Balanced </a:t>
            </a:r>
            <a:r>
              <a:rPr lang="en-US" sz="2400" b="1" dirty="0" err="1"/>
              <a:t>acousticness</a:t>
            </a:r>
            <a:r>
              <a:rPr lang="en-US" sz="2400" b="1" dirty="0"/>
              <a:t> leads to higher average popularity</a:t>
            </a:r>
            <a:r>
              <a:rPr lang="en-US" sz="2400" dirty="0"/>
              <a:t>, while very high </a:t>
            </a:r>
            <a:r>
              <a:rPr lang="en-US" sz="2400" dirty="0" err="1"/>
              <a:t>acousticness</a:t>
            </a:r>
            <a:r>
              <a:rPr lang="en-US" sz="2400" dirty="0"/>
              <a:t> tends to reduce it.</a:t>
            </a:r>
          </a:p>
          <a:p>
            <a:pPr marL="342900" indent="-342900">
              <a:buFont typeface="Arial" panose="020B0604020202020204" pitchFamily="34" charset="0"/>
              <a:buChar char="•"/>
            </a:pPr>
            <a:r>
              <a:rPr lang="en-US" sz="2400" b="1" dirty="0"/>
              <a:t>Language affects popularity trends</a:t>
            </a:r>
            <a:r>
              <a:rPr lang="en-US" sz="2400" dirty="0"/>
              <a:t>, with some languages performing consistently better due to global reach or cultural influence.</a:t>
            </a:r>
          </a:p>
          <a:p>
            <a:pPr marL="342900" indent="-342900">
              <a:buFont typeface="Arial" panose="020B0604020202020204" pitchFamily="34" charset="0"/>
              <a:buChar char="•"/>
            </a:pPr>
            <a:r>
              <a:rPr lang="en-US" sz="2400" b="1" dirty="0"/>
              <a:t>No single feature predicts popularity on its own</a:t>
            </a:r>
            <a:r>
              <a:rPr lang="en-US" sz="2400" dirty="0"/>
              <a:t> — hits appear across all ranges of danceability, </a:t>
            </a:r>
            <a:r>
              <a:rPr lang="en-US" sz="2400" dirty="0" err="1"/>
              <a:t>acousticness</a:t>
            </a:r>
            <a:r>
              <a:rPr lang="en-US" sz="2400" dirty="0"/>
              <a:t>, tempo, and language.</a:t>
            </a:r>
          </a:p>
          <a:p>
            <a:pPr marL="342900" indent="-342900">
              <a:buFont typeface="Arial" panose="020B0604020202020204" pitchFamily="34" charset="0"/>
              <a:buChar char="•"/>
            </a:pPr>
            <a:r>
              <a:rPr lang="en-US" sz="2400" b="1" dirty="0"/>
              <a:t>Feature relationships reveal patterns</a:t>
            </a:r>
            <a:r>
              <a:rPr lang="en-US" sz="2400" dirty="0"/>
              <a:t>, but popularity is ultimately shaped by a combination of musical attributes and external factors.</a:t>
            </a:r>
          </a:p>
          <a:p>
            <a:pPr marL="342900" indent="-342900">
              <a:buFont typeface="Arial" panose="020B0604020202020204" pitchFamily="34" charset="0"/>
              <a:buChar char="•"/>
            </a:pPr>
            <a:r>
              <a:rPr lang="en-US" sz="2400" dirty="0"/>
              <a:t>The analysis suggests that </a:t>
            </a:r>
            <a:r>
              <a:rPr lang="en-US" sz="2400" b="1" dirty="0"/>
              <a:t>song success depends on multi-feature interaction</a:t>
            </a:r>
            <a:r>
              <a:rPr lang="en-US" sz="2400" dirty="0"/>
              <a:t>, not isolated variables.</a:t>
            </a:r>
          </a:p>
        </p:txBody>
      </p:sp>
    </p:spTree>
    <p:extLst>
      <p:ext uri="{BB962C8B-B14F-4D97-AF65-F5344CB8AC3E}">
        <p14:creationId xmlns:p14="http://schemas.microsoft.com/office/powerpoint/2010/main" val="1377788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39C34-A494-4C41-0757-1873EC1BF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8870F-1FD2-02D8-D1D2-90D21BE9FEFF}"/>
              </a:ext>
            </a:extLst>
          </p:cNvPr>
          <p:cNvSpPr>
            <a:spLocks noGrp="1"/>
          </p:cNvSpPr>
          <p:nvPr>
            <p:ph type="title"/>
          </p:nvPr>
        </p:nvSpPr>
        <p:spPr>
          <a:xfrm>
            <a:off x="398614" y="-478302"/>
            <a:ext cx="10353762" cy="1541878"/>
          </a:xfrm>
        </p:spPr>
        <p:txBody>
          <a:bodyPr>
            <a:normAutofit/>
          </a:bodyPr>
          <a:lstStyle/>
          <a:p>
            <a:r>
              <a:rPr lang="en-US" sz="3600" dirty="0"/>
              <a:t>Multivariate Analysis</a:t>
            </a:r>
          </a:p>
        </p:txBody>
      </p:sp>
      <p:sp>
        <p:nvSpPr>
          <p:cNvPr id="6" name="TextBox 5">
            <a:extLst>
              <a:ext uri="{FF2B5EF4-FFF2-40B4-BE49-F238E27FC236}">
                <a16:creationId xmlns:a16="http://schemas.microsoft.com/office/drawing/2014/main" id="{4BDB4356-AA73-1F12-3024-F2DD5015FACB}"/>
              </a:ext>
            </a:extLst>
          </p:cNvPr>
          <p:cNvSpPr txBox="1"/>
          <p:nvPr/>
        </p:nvSpPr>
        <p:spPr>
          <a:xfrm>
            <a:off x="398613" y="805668"/>
            <a:ext cx="9913005" cy="1200329"/>
          </a:xfrm>
          <a:prstGeom prst="rect">
            <a:avLst/>
          </a:prstGeom>
          <a:noFill/>
        </p:spPr>
        <p:txBody>
          <a:bodyPr wrap="square" rtlCol="0">
            <a:spAutoFit/>
          </a:bodyPr>
          <a:lstStyle/>
          <a:p>
            <a:r>
              <a:rPr lang="en-US" b="1" dirty="0"/>
              <a:t>What is Multivariate Analysis?</a:t>
            </a:r>
          </a:p>
          <a:p>
            <a:r>
              <a:rPr lang="en-US" dirty="0"/>
              <a:t>Multivariate Analysis is a statistical technique used to </a:t>
            </a:r>
            <a:r>
              <a:rPr lang="en-US" b="1" dirty="0"/>
              <a:t>analyze more than two variables at the same time</a:t>
            </a:r>
            <a:r>
              <a:rPr lang="en-US" dirty="0"/>
              <a:t> to understand complex relationships, patterns, and interactions between them.</a:t>
            </a:r>
          </a:p>
          <a:p>
            <a:endParaRPr lang="en-US" dirty="0"/>
          </a:p>
        </p:txBody>
      </p:sp>
      <p:sp>
        <p:nvSpPr>
          <p:cNvPr id="7" name="TextBox 6">
            <a:extLst>
              <a:ext uri="{FF2B5EF4-FFF2-40B4-BE49-F238E27FC236}">
                <a16:creationId xmlns:a16="http://schemas.microsoft.com/office/drawing/2014/main" id="{2E9DE002-F797-40E2-2B7E-63F7F2CB5F8B}"/>
              </a:ext>
            </a:extLst>
          </p:cNvPr>
          <p:cNvSpPr txBox="1"/>
          <p:nvPr/>
        </p:nvSpPr>
        <p:spPr>
          <a:xfrm>
            <a:off x="3737332" y="2347546"/>
            <a:ext cx="8276478" cy="4216539"/>
          </a:xfrm>
          <a:prstGeom prst="rect">
            <a:avLst/>
          </a:prstGeom>
          <a:noFill/>
        </p:spPr>
        <p:txBody>
          <a:bodyPr wrap="square" rtlCol="0">
            <a:spAutoFit/>
          </a:bodyPr>
          <a:lstStyle/>
          <a:p>
            <a:r>
              <a:rPr lang="en-US" sz="2400" b="1" dirty="0"/>
              <a:t>What I Included in the Multivariate Analysis</a:t>
            </a:r>
          </a:p>
          <a:p>
            <a:endParaRPr lang="en-US" sz="2400" b="1" dirty="0"/>
          </a:p>
          <a:p>
            <a:pPr marL="342900" indent="-342900">
              <a:buFont typeface="Arial" panose="020B0604020202020204" pitchFamily="34" charset="0"/>
              <a:buChar char="•"/>
            </a:pPr>
            <a:r>
              <a:rPr lang="en-US" sz="2000" b="1" dirty="0"/>
              <a:t>3D scatter plots</a:t>
            </a:r>
            <a:r>
              <a:rPr lang="en-US" sz="2000" dirty="0"/>
              <a:t> combining three musical features at once.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Color-coded fourth variable</a:t>
            </a:r>
            <a:r>
              <a:rPr lang="en-US" sz="2000" dirty="0"/>
              <a:t> (e.g., popularity or tempo) for deeper insight.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Tempo–Danceability–Energy</a:t>
            </a:r>
            <a:r>
              <a:rPr lang="en-US" sz="2000" dirty="0"/>
              <a:t> relationship to observe rhythmic patterns.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Popularity–Duration–Tempo</a:t>
            </a:r>
            <a:r>
              <a:rPr lang="en-US" sz="2000" dirty="0"/>
              <a:t> to check how length and speed affect success.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Popularity–Danceability–Energy</a:t>
            </a:r>
            <a:r>
              <a:rPr lang="en-US" sz="2000" dirty="0"/>
              <a:t> to see how musical feel relates to hits.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Interaction patterns</a:t>
            </a:r>
            <a:r>
              <a:rPr lang="en-US" sz="2000" dirty="0"/>
              <a:t> across multiple features, not visible in simple 2D graphs</a:t>
            </a:r>
          </a:p>
        </p:txBody>
      </p:sp>
    </p:spTree>
    <p:extLst>
      <p:ext uri="{BB962C8B-B14F-4D97-AF65-F5344CB8AC3E}">
        <p14:creationId xmlns:p14="http://schemas.microsoft.com/office/powerpoint/2010/main" val="2708654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C9AC-9E45-756A-B388-A269232592EC}"/>
              </a:ext>
            </a:extLst>
          </p:cNvPr>
          <p:cNvSpPr>
            <a:spLocks noGrp="1"/>
          </p:cNvSpPr>
          <p:nvPr>
            <p:ph type="title"/>
          </p:nvPr>
        </p:nvSpPr>
        <p:spPr>
          <a:xfrm>
            <a:off x="913795" y="0"/>
            <a:ext cx="10353762" cy="1257300"/>
          </a:xfrm>
        </p:spPr>
        <p:txBody>
          <a:bodyPr/>
          <a:lstStyle/>
          <a:p>
            <a:r>
              <a:rPr lang="en-US" dirty="0"/>
              <a:t>CORRELATION HEATMAP</a:t>
            </a:r>
          </a:p>
        </p:txBody>
      </p:sp>
      <p:pic>
        <p:nvPicPr>
          <p:cNvPr id="5" name="Content Placeholder 4">
            <a:extLst>
              <a:ext uri="{FF2B5EF4-FFF2-40B4-BE49-F238E27FC236}">
                <a16:creationId xmlns:a16="http://schemas.microsoft.com/office/drawing/2014/main" id="{108746C2-01CC-056E-CFA2-09CBDEFC86D7}"/>
              </a:ext>
            </a:extLst>
          </p:cNvPr>
          <p:cNvPicPr>
            <a:picLocks noGrp="1" noChangeAspect="1"/>
          </p:cNvPicPr>
          <p:nvPr>
            <p:ph idx="1"/>
          </p:nvPr>
        </p:nvPicPr>
        <p:blipFill>
          <a:blip r:embed="rId2"/>
          <a:stretch>
            <a:fillRect/>
          </a:stretch>
        </p:blipFill>
        <p:spPr>
          <a:xfrm>
            <a:off x="0" y="1102555"/>
            <a:ext cx="6618688" cy="5479405"/>
          </a:xfrm>
          <a:prstGeom prst="rect">
            <a:avLst/>
          </a:prstGeom>
          <a:effectLst>
            <a:outerShdw blurRad="25400" dir="17880000">
              <a:srgbClr val="000000">
                <a:alpha val="46000"/>
              </a:srgbClr>
            </a:outerShdw>
          </a:effectLst>
        </p:spPr>
      </p:pic>
      <p:sp>
        <p:nvSpPr>
          <p:cNvPr id="6" name="TextBox 5">
            <a:extLst>
              <a:ext uri="{FF2B5EF4-FFF2-40B4-BE49-F238E27FC236}">
                <a16:creationId xmlns:a16="http://schemas.microsoft.com/office/drawing/2014/main" id="{AF932628-ED15-F86D-B595-6AFB09938571}"/>
              </a:ext>
            </a:extLst>
          </p:cNvPr>
          <p:cNvSpPr txBox="1"/>
          <p:nvPr/>
        </p:nvSpPr>
        <p:spPr>
          <a:xfrm>
            <a:off x="7132320" y="1364566"/>
            <a:ext cx="4600135" cy="3139321"/>
          </a:xfrm>
          <a:prstGeom prst="rect">
            <a:avLst/>
          </a:prstGeom>
          <a:noFill/>
        </p:spPr>
        <p:txBody>
          <a:bodyPr wrap="square" rtlCol="0">
            <a:spAutoFit/>
          </a:bodyPr>
          <a:lstStyle/>
          <a:p>
            <a:r>
              <a:rPr lang="en-US" dirty="0"/>
              <a:t>The correlation heatmap reveals a strong positive relationship between </a:t>
            </a:r>
            <a:r>
              <a:rPr lang="en-US" b="1" dirty="0"/>
              <a:t>energy</a:t>
            </a:r>
            <a:r>
              <a:rPr lang="en-US" dirty="0"/>
              <a:t>, </a:t>
            </a:r>
            <a:r>
              <a:rPr lang="en-US" b="1" dirty="0"/>
              <a:t>loudness</a:t>
            </a:r>
            <a:r>
              <a:rPr lang="en-US" dirty="0"/>
              <a:t>, and </a:t>
            </a:r>
            <a:r>
              <a:rPr lang="en-US" b="1" dirty="0"/>
              <a:t>danceability</a:t>
            </a:r>
            <a:r>
              <a:rPr lang="en-US" dirty="0"/>
              <a:t>—meaning these features tend to increase together. Conversely, </a:t>
            </a:r>
            <a:r>
              <a:rPr lang="en-US" b="1" dirty="0" err="1"/>
              <a:t>acousticness</a:t>
            </a:r>
            <a:r>
              <a:rPr lang="en-US" dirty="0"/>
              <a:t> and </a:t>
            </a:r>
            <a:r>
              <a:rPr lang="en-US" b="1" dirty="0" err="1"/>
              <a:t>instrumentalness</a:t>
            </a:r>
            <a:r>
              <a:rPr lang="en-US" dirty="0"/>
              <a:t> show a negative correlation with those energetic qualities. It's also noteworthy that </a:t>
            </a:r>
            <a:r>
              <a:rPr lang="en-US" b="1" dirty="0"/>
              <a:t>popularity</a:t>
            </a:r>
            <a:r>
              <a:rPr lang="en-US" dirty="0"/>
              <a:t> has only a weak connection to any single audio feature, suggesting that a song's success is a complex result of many combined factors, not just one specific attribute.</a:t>
            </a:r>
          </a:p>
        </p:txBody>
      </p:sp>
    </p:spTree>
    <p:extLst>
      <p:ext uri="{BB962C8B-B14F-4D97-AF65-F5344CB8AC3E}">
        <p14:creationId xmlns:p14="http://schemas.microsoft.com/office/powerpoint/2010/main" val="3528353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6C8FA-8838-CA61-2E98-04F052AC8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FDDD3-B216-6636-849A-695DC91923A7}"/>
              </a:ext>
            </a:extLst>
          </p:cNvPr>
          <p:cNvSpPr>
            <a:spLocks noGrp="1"/>
          </p:cNvSpPr>
          <p:nvPr>
            <p:ph type="title"/>
          </p:nvPr>
        </p:nvSpPr>
        <p:spPr>
          <a:xfrm>
            <a:off x="674644" y="-154745"/>
            <a:ext cx="10353762" cy="1257300"/>
          </a:xfrm>
        </p:spPr>
        <p:txBody>
          <a:bodyPr/>
          <a:lstStyle/>
          <a:p>
            <a:r>
              <a:rPr lang="en-US" dirty="0"/>
              <a:t>Tempo – Danceability-Energy- Popularity</a:t>
            </a:r>
          </a:p>
        </p:txBody>
      </p:sp>
      <p:pic>
        <p:nvPicPr>
          <p:cNvPr id="5" name="Content Placeholder 4">
            <a:extLst>
              <a:ext uri="{FF2B5EF4-FFF2-40B4-BE49-F238E27FC236}">
                <a16:creationId xmlns:a16="http://schemas.microsoft.com/office/drawing/2014/main" id="{2E69526D-067D-0F1E-0A78-938AEF76CD58}"/>
              </a:ext>
            </a:extLst>
          </p:cNvPr>
          <p:cNvPicPr>
            <a:picLocks noGrp="1" noChangeAspect="1"/>
          </p:cNvPicPr>
          <p:nvPr>
            <p:ph idx="1"/>
          </p:nvPr>
        </p:nvPicPr>
        <p:blipFill>
          <a:blip r:embed="rId2"/>
          <a:stretch>
            <a:fillRect/>
          </a:stretch>
        </p:blipFill>
        <p:spPr>
          <a:xfrm>
            <a:off x="0" y="1102555"/>
            <a:ext cx="6618688" cy="5479405"/>
          </a:xfrm>
          <a:prstGeom prst="rect">
            <a:avLst/>
          </a:prstGeom>
          <a:effectLst>
            <a:outerShdw blurRad="25400" dir="17880000">
              <a:srgbClr val="000000">
                <a:alpha val="46000"/>
              </a:srgbClr>
            </a:outerShdw>
          </a:effectLst>
        </p:spPr>
      </p:pic>
      <p:sp>
        <p:nvSpPr>
          <p:cNvPr id="6" name="TextBox 5">
            <a:extLst>
              <a:ext uri="{FF2B5EF4-FFF2-40B4-BE49-F238E27FC236}">
                <a16:creationId xmlns:a16="http://schemas.microsoft.com/office/drawing/2014/main" id="{29979C30-591F-BD3C-3F58-AA1A9366239F}"/>
              </a:ext>
            </a:extLst>
          </p:cNvPr>
          <p:cNvSpPr txBox="1"/>
          <p:nvPr/>
        </p:nvSpPr>
        <p:spPr>
          <a:xfrm>
            <a:off x="7118253" y="1166842"/>
            <a:ext cx="4600135" cy="4524315"/>
          </a:xfrm>
          <a:prstGeom prst="rect">
            <a:avLst/>
          </a:prstGeom>
          <a:noFill/>
        </p:spPr>
        <p:txBody>
          <a:bodyPr wrap="square" rtlCol="0">
            <a:spAutoFit/>
          </a:bodyPr>
          <a:lstStyle/>
          <a:p>
            <a:r>
              <a:rPr lang="en-US" dirty="0"/>
              <a:t>• </a:t>
            </a:r>
            <a:r>
              <a:rPr lang="en-US" b="1" dirty="0"/>
              <a:t>Songs with higher tempo generally show higher energy</a:t>
            </a:r>
            <a:r>
              <a:rPr lang="en-US" dirty="0"/>
              <a:t>, highlighting a natural connection between musical speed and intensity.</a:t>
            </a:r>
            <a:br>
              <a:rPr lang="en-US" dirty="0"/>
            </a:br>
            <a:r>
              <a:rPr lang="en-US" dirty="0"/>
              <a:t>• </a:t>
            </a:r>
            <a:r>
              <a:rPr lang="en-US" b="1" dirty="0"/>
              <a:t>Danceability rises along with energy</a:t>
            </a:r>
            <a:r>
              <a:rPr lang="en-US" dirty="0"/>
              <a:t>, suggesting that energetic tracks tend to be more rhythmically engaging and easier to dance to.</a:t>
            </a:r>
            <a:br>
              <a:rPr lang="en-US" dirty="0"/>
            </a:br>
            <a:r>
              <a:rPr lang="en-US" dirty="0"/>
              <a:t>• </a:t>
            </a:r>
            <a:r>
              <a:rPr lang="en-US" b="1" dirty="0"/>
              <a:t>Popularity (represented by color/size) is widely distributed</a:t>
            </a:r>
            <a:r>
              <a:rPr lang="en-US" dirty="0"/>
              <a:t> across all combinations of tempo, danceability, and energy, showing that hit songs do not follow a single fixed musical formula.</a:t>
            </a:r>
            <a:br>
              <a:rPr lang="en-US" dirty="0"/>
            </a:br>
            <a:r>
              <a:rPr lang="en-US" dirty="0"/>
              <a:t>• This indicates that while </a:t>
            </a:r>
            <a:r>
              <a:rPr lang="en-US" b="1" dirty="0"/>
              <a:t>tempo and energy shape a song’s feel</a:t>
            </a:r>
            <a:r>
              <a:rPr lang="en-US" dirty="0"/>
              <a:t>, </a:t>
            </a:r>
            <a:r>
              <a:rPr lang="en-US" b="1" dirty="0"/>
              <a:t>popularity depends on multiple factors</a:t>
            </a:r>
            <a:r>
              <a:rPr lang="en-US" dirty="0"/>
              <a:t> beyond audio characteristics—such as artist influence, marketing, trends, and listener preferences.</a:t>
            </a:r>
          </a:p>
        </p:txBody>
      </p:sp>
      <p:pic>
        <p:nvPicPr>
          <p:cNvPr id="4" name="Picture 3">
            <a:extLst>
              <a:ext uri="{FF2B5EF4-FFF2-40B4-BE49-F238E27FC236}">
                <a16:creationId xmlns:a16="http://schemas.microsoft.com/office/drawing/2014/main" id="{BE153592-2458-A62B-7E6C-AE1645884655}"/>
              </a:ext>
            </a:extLst>
          </p:cNvPr>
          <p:cNvPicPr>
            <a:picLocks noChangeAspect="1"/>
          </p:cNvPicPr>
          <p:nvPr/>
        </p:nvPicPr>
        <p:blipFill>
          <a:blip r:embed="rId3"/>
          <a:stretch>
            <a:fillRect/>
          </a:stretch>
        </p:blipFill>
        <p:spPr>
          <a:xfrm>
            <a:off x="0" y="1102554"/>
            <a:ext cx="6618688" cy="5479405"/>
          </a:xfrm>
          <a:prstGeom prst="rect">
            <a:avLst/>
          </a:prstGeom>
        </p:spPr>
      </p:pic>
    </p:spTree>
    <p:extLst>
      <p:ext uri="{BB962C8B-B14F-4D97-AF65-F5344CB8AC3E}">
        <p14:creationId xmlns:p14="http://schemas.microsoft.com/office/powerpoint/2010/main" val="2985615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FD8C7-0DDA-87DF-4AA6-4577CFE19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12CDF-F8D8-3D69-C876-4672D28442B6}"/>
              </a:ext>
            </a:extLst>
          </p:cNvPr>
          <p:cNvSpPr>
            <a:spLocks noGrp="1"/>
          </p:cNvSpPr>
          <p:nvPr>
            <p:ph type="title"/>
          </p:nvPr>
        </p:nvSpPr>
        <p:spPr>
          <a:xfrm>
            <a:off x="674644" y="-154745"/>
            <a:ext cx="10353762" cy="1257300"/>
          </a:xfrm>
        </p:spPr>
        <p:txBody>
          <a:bodyPr/>
          <a:lstStyle/>
          <a:p>
            <a:r>
              <a:rPr lang="en-US" dirty="0"/>
              <a:t>Popularity-duration-tempo </a:t>
            </a:r>
          </a:p>
        </p:txBody>
      </p:sp>
      <p:sp>
        <p:nvSpPr>
          <p:cNvPr id="6" name="TextBox 5">
            <a:extLst>
              <a:ext uri="{FF2B5EF4-FFF2-40B4-BE49-F238E27FC236}">
                <a16:creationId xmlns:a16="http://schemas.microsoft.com/office/drawing/2014/main" id="{066AC079-9997-63EB-182E-99B8A31B8857}"/>
              </a:ext>
            </a:extLst>
          </p:cNvPr>
          <p:cNvSpPr txBox="1"/>
          <p:nvPr/>
        </p:nvSpPr>
        <p:spPr>
          <a:xfrm>
            <a:off x="6323709" y="1166842"/>
            <a:ext cx="5735534" cy="4801314"/>
          </a:xfrm>
          <a:prstGeom prst="rect">
            <a:avLst/>
          </a:prstGeom>
          <a:noFill/>
        </p:spPr>
        <p:txBody>
          <a:bodyPr wrap="square" rtlCol="0">
            <a:spAutoFit/>
          </a:bodyPr>
          <a:lstStyle/>
          <a:p>
            <a:r>
              <a:rPr lang="en-US" dirty="0"/>
              <a:t>• </a:t>
            </a:r>
            <a:r>
              <a:rPr lang="en-US" b="1" dirty="0"/>
              <a:t>Song popularity remains widely spread across all durations</a:t>
            </a:r>
            <a:r>
              <a:rPr lang="en-US" dirty="0"/>
              <a:t>, showing that track length alone does not strongly determine whether a song becomes a hit.</a:t>
            </a:r>
            <a:br>
              <a:rPr lang="en-US" dirty="0"/>
            </a:br>
            <a:r>
              <a:rPr lang="en-US" dirty="0"/>
              <a:t>• </a:t>
            </a:r>
            <a:r>
              <a:rPr lang="en-US" b="1" dirty="0"/>
              <a:t>Shorter and medium-length tracks (2–4 minutes)</a:t>
            </a:r>
            <a:r>
              <a:rPr lang="en-US" dirty="0"/>
              <a:t> are densely populated, reflecting modern music trends where most commercially released songs fall within this range.</a:t>
            </a:r>
            <a:br>
              <a:rPr lang="en-US" dirty="0"/>
            </a:br>
            <a:r>
              <a:rPr lang="en-US" dirty="0"/>
              <a:t>• </a:t>
            </a:r>
            <a:r>
              <a:rPr lang="en-US" b="1" dirty="0"/>
              <a:t>Tempo influences the distribution</a:t>
            </a:r>
            <a:r>
              <a:rPr lang="en-US" dirty="0"/>
              <a:t>, as faster-tempo songs (shown in lighter/yellow shades) appear more frequently among tracks with moderate popularity, suggesting they may be more engaging or energetic for listeners.</a:t>
            </a:r>
            <a:br>
              <a:rPr lang="en-US" dirty="0"/>
            </a:br>
            <a:r>
              <a:rPr lang="en-US" dirty="0"/>
              <a:t>• However, </a:t>
            </a:r>
            <a:r>
              <a:rPr lang="en-US" b="1" dirty="0"/>
              <a:t>popular songs exist across all tempo and duration combinations</a:t>
            </a:r>
            <a:r>
              <a:rPr lang="en-US" dirty="0"/>
              <a:t>, indicating that success is shaped by a combination of factors—genre, artist recognition, production style, and listener preferences—not just tempo or length.</a:t>
            </a:r>
            <a:br>
              <a:rPr lang="en-US" dirty="0"/>
            </a:br>
            <a:r>
              <a:rPr lang="en-US" dirty="0"/>
              <a:t>• Overall, the graph highlights that </a:t>
            </a:r>
            <a:r>
              <a:rPr lang="en-US" b="1" dirty="0"/>
              <a:t>duration and tempo contribute to the musical feel</a:t>
            </a:r>
            <a:r>
              <a:rPr lang="en-US" dirty="0"/>
              <a:t>, but </a:t>
            </a:r>
            <a:r>
              <a:rPr lang="en-US" b="1" dirty="0"/>
              <a:t>neither alone guarantees high popularity</a:t>
            </a:r>
            <a:r>
              <a:rPr lang="en-US" dirty="0"/>
              <a:t>.</a:t>
            </a:r>
          </a:p>
        </p:txBody>
      </p:sp>
      <p:pic>
        <p:nvPicPr>
          <p:cNvPr id="7" name="Picture 6">
            <a:extLst>
              <a:ext uri="{FF2B5EF4-FFF2-40B4-BE49-F238E27FC236}">
                <a16:creationId xmlns:a16="http://schemas.microsoft.com/office/drawing/2014/main" id="{3429F130-5C15-159D-1E9B-9F6EA716E525}"/>
              </a:ext>
            </a:extLst>
          </p:cNvPr>
          <p:cNvPicPr>
            <a:picLocks noChangeAspect="1"/>
          </p:cNvPicPr>
          <p:nvPr/>
        </p:nvPicPr>
        <p:blipFill>
          <a:blip r:embed="rId2"/>
          <a:stretch>
            <a:fillRect/>
          </a:stretch>
        </p:blipFill>
        <p:spPr>
          <a:xfrm>
            <a:off x="132757" y="1066801"/>
            <a:ext cx="5409914" cy="5479404"/>
          </a:xfrm>
          <a:prstGeom prst="rect">
            <a:avLst/>
          </a:prstGeom>
        </p:spPr>
      </p:pic>
    </p:spTree>
    <p:extLst>
      <p:ext uri="{BB962C8B-B14F-4D97-AF65-F5344CB8AC3E}">
        <p14:creationId xmlns:p14="http://schemas.microsoft.com/office/powerpoint/2010/main" val="499478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16318-7769-F535-3036-47EB5FED4454}"/>
              </a:ext>
            </a:extLst>
          </p:cNvPr>
          <p:cNvSpPr>
            <a:spLocks noGrp="1"/>
          </p:cNvSpPr>
          <p:nvPr>
            <p:ph type="title"/>
          </p:nvPr>
        </p:nvSpPr>
        <p:spPr>
          <a:xfrm>
            <a:off x="787186" y="0"/>
            <a:ext cx="10353762" cy="1209822"/>
          </a:xfrm>
        </p:spPr>
        <p:txBody>
          <a:bodyPr/>
          <a:lstStyle/>
          <a:p>
            <a:r>
              <a:rPr lang="en-US" dirty="0"/>
              <a:t>PCA SCATTER</a:t>
            </a:r>
          </a:p>
        </p:txBody>
      </p:sp>
      <p:pic>
        <p:nvPicPr>
          <p:cNvPr id="5" name="Content Placeholder 4">
            <a:extLst>
              <a:ext uri="{FF2B5EF4-FFF2-40B4-BE49-F238E27FC236}">
                <a16:creationId xmlns:a16="http://schemas.microsoft.com/office/drawing/2014/main" id="{6C0A3503-58F9-B62B-6EFF-6D2A3BACCC0D}"/>
              </a:ext>
            </a:extLst>
          </p:cNvPr>
          <p:cNvPicPr>
            <a:picLocks noGrp="1" noChangeAspect="1"/>
          </p:cNvPicPr>
          <p:nvPr>
            <p:ph idx="1"/>
          </p:nvPr>
        </p:nvPicPr>
        <p:blipFill>
          <a:blip r:embed="rId2"/>
          <a:stretch>
            <a:fillRect/>
          </a:stretch>
        </p:blipFill>
        <p:spPr>
          <a:xfrm>
            <a:off x="185425" y="1344930"/>
            <a:ext cx="6609270" cy="4991768"/>
          </a:xfrm>
          <a:prstGeom prst="rect">
            <a:avLst/>
          </a:prstGeom>
          <a:effectLst>
            <a:outerShdw blurRad="25400" dir="17880000">
              <a:srgbClr val="000000">
                <a:alpha val="46000"/>
              </a:srgbClr>
            </a:outerShdw>
          </a:effectLst>
        </p:spPr>
      </p:pic>
      <p:sp>
        <p:nvSpPr>
          <p:cNvPr id="6" name="TextBox 5">
            <a:extLst>
              <a:ext uri="{FF2B5EF4-FFF2-40B4-BE49-F238E27FC236}">
                <a16:creationId xmlns:a16="http://schemas.microsoft.com/office/drawing/2014/main" id="{352F8EA2-4DD5-4A6B-D158-176DDD885B28}"/>
              </a:ext>
            </a:extLst>
          </p:cNvPr>
          <p:cNvSpPr txBox="1"/>
          <p:nvPr/>
        </p:nvSpPr>
        <p:spPr>
          <a:xfrm>
            <a:off x="7301132" y="1463040"/>
            <a:ext cx="4705443" cy="4524315"/>
          </a:xfrm>
          <a:prstGeom prst="rect">
            <a:avLst/>
          </a:prstGeom>
          <a:noFill/>
        </p:spPr>
        <p:txBody>
          <a:bodyPr wrap="square" rtlCol="0">
            <a:spAutoFit/>
          </a:bodyPr>
          <a:lstStyle/>
          <a:p>
            <a:r>
              <a:rPr lang="en-US"/>
              <a:t>The PCA plot shows that songs form distinct clusters along the primary axes (PC1 and PC2), revealing natural groupings based on combined audio characteristics like </a:t>
            </a:r>
            <a:r>
              <a:rPr lang="en-US" b="1"/>
              <a:t>danceability</a:t>
            </a:r>
            <a:r>
              <a:rPr lang="en-US"/>
              <a:t>, </a:t>
            </a:r>
            <a:r>
              <a:rPr lang="en-US" b="1"/>
              <a:t>energy</a:t>
            </a:r>
            <a:r>
              <a:rPr lang="en-US"/>
              <a:t>, and </a:t>
            </a:r>
            <a:r>
              <a:rPr lang="en-US" b="1"/>
              <a:t>valence</a:t>
            </a:r>
            <a:r>
              <a:rPr lang="en-US"/>
              <a:t>. However, these audio-based clusters do not neatly align with popularity levels; the popularity quartiles (Q1-Q4) are intermingled across the plot, which indicates that audio features alone do not determine a song's success. The first principal component (PC1) accounts for the majority of the variance, suggesting that a primary combination of features—likely </a:t>
            </a:r>
            <a:r>
              <a:rPr lang="en-US" b="1"/>
              <a:t>energy and danceability</a:t>
            </a:r>
            <a:r>
              <a:rPr lang="en-US"/>
              <a:t>—is the main differentiator between songs. PC2 then adds a secondary layer of detail, capturing nuances related to </a:t>
            </a:r>
            <a:r>
              <a:rPr lang="en-US" b="1"/>
              <a:t>valence</a:t>
            </a:r>
            <a:r>
              <a:rPr lang="en-US"/>
              <a:t> or other contrasting attributes.</a:t>
            </a:r>
          </a:p>
        </p:txBody>
      </p:sp>
    </p:spTree>
    <p:extLst>
      <p:ext uri="{BB962C8B-B14F-4D97-AF65-F5344CB8AC3E}">
        <p14:creationId xmlns:p14="http://schemas.microsoft.com/office/powerpoint/2010/main" val="2382714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DCE3-1801-FC69-D021-6C9283369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FD7E3-0C70-4AF3-01C5-4BDA54FFEF23}"/>
              </a:ext>
            </a:extLst>
          </p:cNvPr>
          <p:cNvSpPr>
            <a:spLocks noGrp="1"/>
          </p:cNvSpPr>
          <p:nvPr>
            <p:ph type="title"/>
          </p:nvPr>
        </p:nvSpPr>
        <p:spPr>
          <a:xfrm>
            <a:off x="1377696" y="-98474"/>
            <a:ext cx="9032063" cy="1257300"/>
          </a:xfrm>
        </p:spPr>
        <p:txBody>
          <a:bodyPr/>
          <a:lstStyle/>
          <a:p>
            <a:r>
              <a:rPr lang="en-US" dirty="0"/>
              <a:t>Popularity-danceability-energy</a:t>
            </a:r>
          </a:p>
        </p:txBody>
      </p:sp>
      <p:sp>
        <p:nvSpPr>
          <p:cNvPr id="10" name="TextBox 9">
            <a:extLst>
              <a:ext uri="{FF2B5EF4-FFF2-40B4-BE49-F238E27FC236}">
                <a16:creationId xmlns:a16="http://schemas.microsoft.com/office/drawing/2014/main" id="{8745FD9C-EF8E-3890-DA28-E534018DAB8C}"/>
              </a:ext>
            </a:extLst>
          </p:cNvPr>
          <p:cNvSpPr txBox="1"/>
          <p:nvPr/>
        </p:nvSpPr>
        <p:spPr>
          <a:xfrm>
            <a:off x="7200105" y="1546979"/>
            <a:ext cx="4218172" cy="3139321"/>
          </a:xfrm>
          <a:prstGeom prst="rect">
            <a:avLst/>
          </a:prstGeom>
          <a:noFill/>
        </p:spPr>
        <p:txBody>
          <a:bodyPr wrap="square" rtlCol="0">
            <a:spAutoFit/>
          </a:bodyPr>
          <a:lstStyle/>
          <a:p>
            <a:r>
              <a:rPr lang="en-US" dirty="0"/>
              <a:t>• Songs with </a:t>
            </a:r>
            <a:r>
              <a:rPr lang="en-US" b="1" dirty="0"/>
              <a:t>higher danceability and higher energy</a:t>
            </a:r>
            <a:r>
              <a:rPr lang="en-US" dirty="0"/>
              <a:t> tend to cluster toward higher popularity, showing that lively, rhythmic tracks often perform better.</a:t>
            </a:r>
            <a:br>
              <a:rPr lang="en-US" dirty="0"/>
            </a:br>
            <a:r>
              <a:rPr lang="en-US" dirty="0"/>
              <a:t>• However, </a:t>
            </a:r>
            <a:r>
              <a:rPr lang="en-US" b="1" dirty="0"/>
              <a:t>popularity appears across all energy-danceability combinations</a:t>
            </a:r>
            <a:r>
              <a:rPr lang="en-US" dirty="0"/>
              <a:t>, meaning no single audio pattern guarantees a hit.</a:t>
            </a:r>
            <a:br>
              <a:rPr lang="en-US" dirty="0"/>
            </a:br>
            <a:r>
              <a:rPr lang="en-US" dirty="0"/>
              <a:t>• Overall, the graph suggests that while </a:t>
            </a:r>
            <a:r>
              <a:rPr lang="en-US" b="1" dirty="0"/>
              <a:t>energy and danceability contribute to popularity</a:t>
            </a:r>
            <a:r>
              <a:rPr lang="en-US" dirty="0"/>
              <a:t>, they are </a:t>
            </a:r>
            <a:r>
              <a:rPr lang="en-US" b="1" dirty="0"/>
              <a:t>not the only factors</a:t>
            </a:r>
            <a:r>
              <a:rPr lang="en-US" dirty="0"/>
              <a:t> driving a song’s success.</a:t>
            </a:r>
          </a:p>
        </p:txBody>
      </p:sp>
      <p:pic>
        <p:nvPicPr>
          <p:cNvPr id="7" name="Content Placeholder 6">
            <a:extLst>
              <a:ext uri="{FF2B5EF4-FFF2-40B4-BE49-F238E27FC236}">
                <a16:creationId xmlns:a16="http://schemas.microsoft.com/office/drawing/2014/main" id="{4353C5AF-49A2-B462-04F8-EFB09975C49B}"/>
              </a:ext>
            </a:extLst>
          </p:cNvPr>
          <p:cNvPicPr>
            <a:picLocks noGrp="1" noChangeAspect="1"/>
          </p:cNvPicPr>
          <p:nvPr>
            <p:ph idx="1"/>
          </p:nvPr>
        </p:nvPicPr>
        <p:blipFill>
          <a:blip r:embed="rId2"/>
          <a:stretch>
            <a:fillRect/>
          </a:stretch>
        </p:blipFill>
        <p:spPr>
          <a:xfrm>
            <a:off x="302664" y="1021373"/>
            <a:ext cx="5793336" cy="5143005"/>
          </a:xfrm>
        </p:spPr>
      </p:pic>
    </p:spTree>
    <p:extLst>
      <p:ext uri="{BB962C8B-B14F-4D97-AF65-F5344CB8AC3E}">
        <p14:creationId xmlns:p14="http://schemas.microsoft.com/office/powerpoint/2010/main" val="2961373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F84D2-39AF-D25F-ACC7-192EA2CF966D}"/>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888B5E7D-549F-434C-5928-94B3BAD2805B}"/>
              </a:ext>
            </a:extLst>
          </p:cNvPr>
          <p:cNvSpPr txBox="1"/>
          <p:nvPr/>
        </p:nvSpPr>
        <p:spPr>
          <a:xfrm>
            <a:off x="717452" y="590844"/>
            <a:ext cx="10494499" cy="6001643"/>
          </a:xfrm>
          <a:prstGeom prst="rect">
            <a:avLst/>
          </a:prstGeom>
          <a:noFill/>
        </p:spPr>
        <p:txBody>
          <a:bodyPr wrap="square" rtlCol="0">
            <a:spAutoFit/>
          </a:bodyPr>
          <a:lstStyle/>
          <a:p>
            <a:r>
              <a:rPr lang="en-US" sz="2400" b="1" dirty="0"/>
              <a:t>⭐ Key Insights from the Multivariate Analysis</a:t>
            </a:r>
          </a:p>
          <a:p>
            <a:r>
              <a:rPr lang="en-US" sz="2000" b="1" dirty="0"/>
              <a:t>1. Popularity has no single dominant predictor</a:t>
            </a:r>
          </a:p>
          <a:p>
            <a:r>
              <a:rPr lang="en-US" sz="2000" dirty="0"/>
              <a:t>Even though energetic and danceable songs tend to score higher, </a:t>
            </a:r>
            <a:r>
              <a:rPr lang="en-US" sz="2000" b="1" dirty="0"/>
              <a:t>popularity is widely scattered</a:t>
            </a:r>
            <a:r>
              <a:rPr lang="en-US" sz="2000" dirty="0"/>
              <a:t>, showing that hits come in many styles.</a:t>
            </a:r>
          </a:p>
          <a:p>
            <a:r>
              <a:rPr lang="en-US" sz="2000" b="1" dirty="0"/>
              <a:t>2. Danceability and energy reinforce each other</a:t>
            </a:r>
          </a:p>
          <a:p>
            <a:r>
              <a:rPr lang="en-US" sz="2000" dirty="0"/>
              <a:t>Songs that are </a:t>
            </a:r>
            <a:r>
              <a:rPr lang="en-US" sz="2000" b="1" dirty="0"/>
              <a:t>both highly energetic and highly danceable</a:t>
            </a:r>
            <a:r>
              <a:rPr lang="en-US" sz="2000" dirty="0"/>
              <a:t> form a strong cluster—typical characteristics of modern pop and EDM tracks.</a:t>
            </a:r>
          </a:p>
          <a:p>
            <a:r>
              <a:rPr lang="en-US" sz="2000" b="1" dirty="0"/>
              <a:t>3. Tempo, duration, and energy show natural coupling</a:t>
            </a:r>
          </a:p>
          <a:p>
            <a:r>
              <a:rPr lang="en-US" sz="2000" dirty="0"/>
              <a:t>Faster and moderately long songs (2.5–4 minutes) often exhibit higher energy, aligning with listener preferences for dynamic, engaging tracks.</a:t>
            </a:r>
          </a:p>
          <a:p>
            <a:r>
              <a:rPr lang="en-US" sz="2000" b="1" dirty="0"/>
              <a:t>4. Popularity spreads across all combinations</a:t>
            </a:r>
          </a:p>
          <a:p>
            <a:r>
              <a:rPr lang="en-US" sz="2000" dirty="0"/>
              <a:t>Despite patterns, </a:t>
            </a:r>
            <a:r>
              <a:rPr lang="en-US" sz="2000" b="1" dirty="0"/>
              <a:t>popular songs exist in all duration, tempo, danceability, and energy ranges</a:t>
            </a:r>
            <a:r>
              <a:rPr lang="en-US" sz="2000" dirty="0"/>
              <a:t>, proving that audio features alone cannot fully explain a song’s commercial success.</a:t>
            </a:r>
          </a:p>
          <a:p>
            <a:r>
              <a:rPr lang="en-US" sz="2000" b="1" dirty="0"/>
              <a:t>5. Popularity depends on mixed feature interactions—not isolated variables</a:t>
            </a:r>
          </a:p>
          <a:p>
            <a:r>
              <a:rPr lang="en-US" sz="2000" dirty="0"/>
              <a:t>The 3D patterns reveal that rising popularity often results from a </a:t>
            </a:r>
            <a:r>
              <a:rPr lang="en-US" sz="2000" b="1" dirty="0"/>
              <a:t>balance</a:t>
            </a:r>
            <a:r>
              <a:rPr lang="en-US" sz="2000" dirty="0"/>
              <a:t> of tempo, energy, danceability, and overall production quality, not from extreme values.</a:t>
            </a:r>
          </a:p>
          <a:p>
            <a:r>
              <a:rPr lang="en-US" sz="2000" b="1" dirty="0"/>
              <a:t>6. Important real-world insight</a:t>
            </a:r>
          </a:p>
          <a:p>
            <a:r>
              <a:rPr lang="en-US" sz="2000" dirty="0"/>
              <a:t>External factors—such as </a:t>
            </a:r>
            <a:r>
              <a:rPr lang="en-US" sz="2000" b="1" dirty="0"/>
              <a:t>artist fame, marketing, playlist placement, genre trends, and cultural context</a:t>
            </a:r>
            <a:r>
              <a:rPr lang="en-US" sz="2000" dirty="0"/>
              <a:t>—play a major role beyond audio features.</a:t>
            </a:r>
          </a:p>
        </p:txBody>
      </p:sp>
    </p:spTree>
    <p:extLst>
      <p:ext uri="{BB962C8B-B14F-4D97-AF65-F5344CB8AC3E}">
        <p14:creationId xmlns:p14="http://schemas.microsoft.com/office/powerpoint/2010/main" val="2534817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0D52-E5CB-5816-5B9A-7208FF5DFD6E}"/>
              </a:ext>
            </a:extLst>
          </p:cNvPr>
          <p:cNvSpPr>
            <a:spLocks noGrp="1"/>
          </p:cNvSpPr>
          <p:nvPr>
            <p:ph type="title"/>
          </p:nvPr>
        </p:nvSpPr>
        <p:spPr>
          <a:xfrm>
            <a:off x="1058829" y="0"/>
            <a:ext cx="9032063" cy="1257300"/>
          </a:xfrm>
        </p:spPr>
        <p:txBody>
          <a:bodyPr/>
          <a:lstStyle/>
          <a:p>
            <a:r>
              <a:rPr lang="en-US" dirty="0"/>
              <a:t>Time series analysis</a:t>
            </a:r>
          </a:p>
        </p:txBody>
      </p:sp>
      <p:sp>
        <p:nvSpPr>
          <p:cNvPr id="6" name="TextBox 5">
            <a:extLst>
              <a:ext uri="{FF2B5EF4-FFF2-40B4-BE49-F238E27FC236}">
                <a16:creationId xmlns:a16="http://schemas.microsoft.com/office/drawing/2014/main" id="{4D2FF882-C245-F6F4-2EC1-76B786DD8029}"/>
              </a:ext>
            </a:extLst>
          </p:cNvPr>
          <p:cNvSpPr txBox="1"/>
          <p:nvPr/>
        </p:nvSpPr>
        <p:spPr>
          <a:xfrm>
            <a:off x="285106" y="1257300"/>
            <a:ext cx="7901354" cy="954107"/>
          </a:xfrm>
          <a:prstGeom prst="rect">
            <a:avLst/>
          </a:prstGeom>
          <a:noFill/>
        </p:spPr>
        <p:txBody>
          <a:bodyPr wrap="square" rtlCol="0">
            <a:spAutoFit/>
          </a:bodyPr>
          <a:lstStyle/>
          <a:p>
            <a:r>
              <a:rPr lang="en-US" sz="2000" b="1" dirty="0"/>
              <a:t>What is Time Series Analysis?</a:t>
            </a:r>
          </a:p>
          <a:p>
            <a:r>
              <a:rPr lang="en-US" dirty="0"/>
              <a:t>Time Series Analysis is the process of examining how a variable </a:t>
            </a:r>
            <a:r>
              <a:rPr lang="en-US" b="1" dirty="0"/>
              <a:t>changes over time</a:t>
            </a:r>
            <a:r>
              <a:rPr lang="en-US" dirty="0"/>
              <a:t> to identify trends, patterns, and long-term behavior.</a:t>
            </a:r>
          </a:p>
        </p:txBody>
      </p:sp>
      <p:sp>
        <p:nvSpPr>
          <p:cNvPr id="7" name="TextBox 6">
            <a:extLst>
              <a:ext uri="{FF2B5EF4-FFF2-40B4-BE49-F238E27FC236}">
                <a16:creationId xmlns:a16="http://schemas.microsoft.com/office/drawing/2014/main" id="{94C4A6E1-B56E-8D5C-5D05-C41FBF2AF0E3}"/>
              </a:ext>
            </a:extLst>
          </p:cNvPr>
          <p:cNvSpPr txBox="1"/>
          <p:nvPr/>
        </p:nvSpPr>
        <p:spPr>
          <a:xfrm>
            <a:off x="4103077" y="3021037"/>
            <a:ext cx="7362092" cy="2308324"/>
          </a:xfrm>
          <a:prstGeom prst="rect">
            <a:avLst/>
          </a:prstGeom>
          <a:noFill/>
        </p:spPr>
        <p:txBody>
          <a:bodyPr wrap="square" rtlCol="0">
            <a:spAutoFit/>
          </a:bodyPr>
          <a:lstStyle/>
          <a:p>
            <a:r>
              <a:rPr lang="en-US" sz="2400" b="1" dirty="0"/>
              <a:t>Why It Is Useful in This Project</a:t>
            </a:r>
          </a:p>
          <a:p>
            <a:pPr marL="342900" indent="-342900">
              <a:buFont typeface="Arial" panose="020B0604020202020204" pitchFamily="34" charset="0"/>
              <a:buChar char="•"/>
            </a:pPr>
            <a:r>
              <a:rPr lang="en-US" sz="2000" dirty="0"/>
              <a:t>Helps understand </a:t>
            </a:r>
            <a:r>
              <a:rPr lang="en-US" sz="2000" b="1" dirty="0"/>
              <a:t>how musical features evolve</a:t>
            </a:r>
            <a:r>
              <a:rPr lang="en-US" sz="2000" dirty="0"/>
              <a:t> across years.</a:t>
            </a:r>
          </a:p>
          <a:p>
            <a:pPr marL="342900" indent="-342900">
              <a:buFont typeface="Arial" panose="020B0604020202020204" pitchFamily="34" charset="0"/>
              <a:buChar char="•"/>
            </a:pPr>
            <a:r>
              <a:rPr lang="en-US" sz="2000" dirty="0"/>
              <a:t>Reveals whether attributes like </a:t>
            </a:r>
            <a:r>
              <a:rPr lang="en-US" sz="2000" b="1" dirty="0"/>
              <a:t>popularity, energy, tempo, danceability</a:t>
            </a:r>
            <a:r>
              <a:rPr lang="en-US" sz="2000" dirty="0"/>
              <a:t> are increasing, decreasing, or stable.</a:t>
            </a:r>
          </a:p>
          <a:p>
            <a:pPr marL="342900" indent="-342900">
              <a:buFont typeface="Arial" panose="020B0604020202020204" pitchFamily="34" charset="0"/>
              <a:buChar char="•"/>
            </a:pPr>
            <a:r>
              <a:rPr lang="en-US" sz="2000" dirty="0"/>
              <a:t>Shows long-term </a:t>
            </a:r>
            <a:r>
              <a:rPr lang="en-US" sz="2000" b="1" dirty="0"/>
              <a:t>industry trends</a:t>
            </a:r>
            <a:r>
              <a:rPr lang="en-US" sz="2000" dirty="0"/>
              <a:t> in music production and listener preferences.</a:t>
            </a:r>
          </a:p>
          <a:p>
            <a:pPr marL="342900" indent="-342900">
              <a:buFont typeface="Arial" panose="020B0604020202020204" pitchFamily="34" charset="0"/>
              <a:buChar char="•"/>
            </a:pPr>
            <a:r>
              <a:rPr lang="en-US" sz="2000" dirty="0"/>
              <a:t>Helps compare </a:t>
            </a:r>
            <a:r>
              <a:rPr lang="en-US" sz="2000" b="1" dirty="0"/>
              <a:t>past vs. present</a:t>
            </a:r>
            <a:r>
              <a:rPr lang="en-US" sz="2000" dirty="0"/>
              <a:t> characteristics in the dataset</a:t>
            </a:r>
          </a:p>
        </p:txBody>
      </p:sp>
    </p:spTree>
    <p:extLst>
      <p:ext uri="{BB962C8B-B14F-4D97-AF65-F5344CB8AC3E}">
        <p14:creationId xmlns:p14="http://schemas.microsoft.com/office/powerpoint/2010/main" val="1236557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F79FE-9C28-5658-240E-B324A4405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F530D-C2E0-CAE3-C4E1-9888A3027006}"/>
              </a:ext>
            </a:extLst>
          </p:cNvPr>
          <p:cNvSpPr>
            <a:spLocks noGrp="1"/>
          </p:cNvSpPr>
          <p:nvPr>
            <p:ph type="title"/>
          </p:nvPr>
        </p:nvSpPr>
        <p:spPr>
          <a:xfrm>
            <a:off x="1377696" y="-98474"/>
            <a:ext cx="9032063" cy="1257300"/>
          </a:xfrm>
        </p:spPr>
        <p:txBody>
          <a:bodyPr/>
          <a:lstStyle/>
          <a:p>
            <a:r>
              <a:rPr lang="en-US" dirty="0"/>
              <a:t>Danceability – Yearly Trend</a:t>
            </a:r>
          </a:p>
        </p:txBody>
      </p:sp>
      <p:pic>
        <p:nvPicPr>
          <p:cNvPr id="9" name="Picture 8">
            <a:extLst>
              <a:ext uri="{FF2B5EF4-FFF2-40B4-BE49-F238E27FC236}">
                <a16:creationId xmlns:a16="http://schemas.microsoft.com/office/drawing/2014/main" id="{DAD62CE4-4876-1601-DFB3-4781DE5DBEEB}"/>
              </a:ext>
            </a:extLst>
          </p:cNvPr>
          <p:cNvPicPr>
            <a:picLocks noChangeAspect="1"/>
          </p:cNvPicPr>
          <p:nvPr/>
        </p:nvPicPr>
        <p:blipFill>
          <a:blip r:embed="rId2"/>
          <a:stretch>
            <a:fillRect/>
          </a:stretch>
        </p:blipFill>
        <p:spPr>
          <a:xfrm>
            <a:off x="254657" y="1268146"/>
            <a:ext cx="6430748" cy="4321707"/>
          </a:xfrm>
          <a:prstGeom prst="rect">
            <a:avLst/>
          </a:prstGeom>
        </p:spPr>
      </p:pic>
      <p:sp>
        <p:nvSpPr>
          <p:cNvPr id="11" name="Rectangle 1">
            <a:extLst>
              <a:ext uri="{FF2B5EF4-FFF2-40B4-BE49-F238E27FC236}">
                <a16:creationId xmlns:a16="http://schemas.microsoft.com/office/drawing/2014/main" id="{3A60E7AC-FF50-2D92-BC01-AAD8ED95EC36}"/>
              </a:ext>
            </a:extLst>
          </p:cNvPr>
          <p:cNvSpPr>
            <a:spLocks noChangeArrowheads="1"/>
          </p:cNvSpPr>
          <p:nvPr/>
        </p:nvSpPr>
        <p:spPr bwMode="auto">
          <a:xfrm>
            <a:off x="6986953" y="2008362"/>
            <a:ext cx="4759569"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Danceability remains </a:t>
            </a:r>
            <a:r>
              <a:rPr kumimoji="0" lang="en-US" altLang="en-US" sz="1800" b="1" i="0" u="none" strike="noStrike" cap="none" normalizeH="0" baseline="0" dirty="0">
                <a:ln>
                  <a:noFill/>
                </a:ln>
                <a:solidFill>
                  <a:schemeClr val="tx1"/>
                </a:solidFill>
                <a:effectLst/>
                <a:latin typeface="Arial" panose="020B0604020202020204" pitchFamily="34" charset="0"/>
              </a:rPr>
              <a:t>consistent</a:t>
            </a:r>
            <a:r>
              <a:rPr kumimoji="0" lang="en-US" altLang="en-US" sz="1800" b="0" i="0" u="none" strike="noStrike" cap="none" normalizeH="0" baseline="0" dirty="0">
                <a:ln>
                  <a:noFill/>
                </a:ln>
                <a:solidFill>
                  <a:schemeClr val="tx1"/>
                </a:solidFill>
                <a:effectLst/>
                <a:latin typeface="Arial" panose="020B0604020202020204" pitchFamily="34" charset="0"/>
              </a:rPr>
              <a:t>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Only small changes across years.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Indicates steady preference for rhythmic, dance-friendly music.</a:t>
            </a:r>
          </a:p>
        </p:txBody>
      </p:sp>
    </p:spTree>
    <p:extLst>
      <p:ext uri="{BB962C8B-B14F-4D97-AF65-F5344CB8AC3E}">
        <p14:creationId xmlns:p14="http://schemas.microsoft.com/office/powerpoint/2010/main" val="2742223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42C5F-98CB-0014-04AA-2CE0166C1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4CC20-1135-4D61-2DA7-845250A69E99}"/>
              </a:ext>
            </a:extLst>
          </p:cNvPr>
          <p:cNvSpPr>
            <a:spLocks noGrp="1"/>
          </p:cNvSpPr>
          <p:nvPr>
            <p:ph type="title"/>
          </p:nvPr>
        </p:nvSpPr>
        <p:spPr>
          <a:xfrm>
            <a:off x="1377696" y="-98474"/>
            <a:ext cx="9032063" cy="1257300"/>
          </a:xfrm>
        </p:spPr>
        <p:txBody>
          <a:bodyPr/>
          <a:lstStyle/>
          <a:p>
            <a:r>
              <a:rPr lang="en-US" dirty="0"/>
              <a:t>Energy – Yearly Trend</a:t>
            </a:r>
          </a:p>
        </p:txBody>
      </p:sp>
      <p:pic>
        <p:nvPicPr>
          <p:cNvPr id="9" name="Picture 8">
            <a:extLst>
              <a:ext uri="{FF2B5EF4-FFF2-40B4-BE49-F238E27FC236}">
                <a16:creationId xmlns:a16="http://schemas.microsoft.com/office/drawing/2014/main" id="{5309FD5E-7751-77F6-8F7E-0A87FE7DB888}"/>
              </a:ext>
            </a:extLst>
          </p:cNvPr>
          <p:cNvPicPr>
            <a:picLocks noChangeAspect="1"/>
          </p:cNvPicPr>
          <p:nvPr/>
        </p:nvPicPr>
        <p:blipFill>
          <a:blip r:embed="rId2"/>
          <a:stretch>
            <a:fillRect/>
          </a:stretch>
        </p:blipFill>
        <p:spPr>
          <a:xfrm>
            <a:off x="254657" y="1268146"/>
            <a:ext cx="6430748" cy="4321707"/>
          </a:xfrm>
          <a:prstGeom prst="rect">
            <a:avLst/>
          </a:prstGeom>
        </p:spPr>
      </p:pic>
      <p:sp>
        <p:nvSpPr>
          <p:cNvPr id="5" name="Rectangle 2">
            <a:extLst>
              <a:ext uri="{FF2B5EF4-FFF2-40B4-BE49-F238E27FC236}">
                <a16:creationId xmlns:a16="http://schemas.microsoft.com/office/drawing/2014/main" id="{015F9954-8316-B0E1-054A-FE400C51E5F5}"/>
              </a:ext>
            </a:extLst>
          </p:cNvPr>
          <p:cNvSpPr>
            <a:spLocks noChangeArrowheads="1"/>
          </p:cNvSpPr>
          <p:nvPr/>
        </p:nvSpPr>
        <p:spPr bwMode="auto">
          <a:xfrm>
            <a:off x="6685405" y="2373073"/>
            <a:ext cx="5838092"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Energy levels show </a:t>
            </a:r>
            <a:r>
              <a:rPr kumimoji="0" lang="en-US" altLang="en-US" sz="2000" b="1" i="0" u="none" strike="noStrike" cap="none" normalizeH="0" baseline="0" dirty="0">
                <a:ln>
                  <a:noFill/>
                </a:ln>
                <a:solidFill>
                  <a:schemeClr val="tx1"/>
                </a:solidFill>
                <a:effectLst/>
                <a:latin typeface="Arial" panose="020B0604020202020204" pitchFamily="34" charset="0"/>
              </a:rPr>
              <a:t>mild fluctuation</a:t>
            </a:r>
            <a:r>
              <a:rPr kumimoji="0" lang="en-US" altLang="en-US" sz="2000" b="0" i="0" u="none" strike="noStrike" cap="none" normalizeH="0" baseline="0" dirty="0">
                <a:ln>
                  <a:noFill/>
                </a:ln>
                <a:solidFill>
                  <a:schemeClr val="tx1"/>
                </a:solidFill>
                <a:effectLst/>
                <a:latin typeface="Arial" panose="020B0604020202020204" pitchFamily="34" charset="0"/>
              </a:rPr>
              <a:t>, mostly stable.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Modern music stays consistently energetic.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No major shift toward softer or more intense sound</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7" name="Picture 6">
            <a:extLst>
              <a:ext uri="{FF2B5EF4-FFF2-40B4-BE49-F238E27FC236}">
                <a16:creationId xmlns:a16="http://schemas.microsoft.com/office/drawing/2014/main" id="{CB1EBEC1-4558-7C2F-B9CD-A01130BC3F50}"/>
              </a:ext>
            </a:extLst>
          </p:cNvPr>
          <p:cNvPicPr>
            <a:picLocks noChangeAspect="1"/>
          </p:cNvPicPr>
          <p:nvPr/>
        </p:nvPicPr>
        <p:blipFill>
          <a:blip r:embed="rId3"/>
          <a:stretch>
            <a:fillRect/>
          </a:stretch>
        </p:blipFill>
        <p:spPr>
          <a:xfrm>
            <a:off x="254657" y="1268146"/>
            <a:ext cx="6430748" cy="4321707"/>
          </a:xfrm>
          <a:prstGeom prst="rect">
            <a:avLst/>
          </a:prstGeom>
        </p:spPr>
      </p:pic>
    </p:spTree>
    <p:extLst>
      <p:ext uri="{BB962C8B-B14F-4D97-AF65-F5344CB8AC3E}">
        <p14:creationId xmlns:p14="http://schemas.microsoft.com/office/powerpoint/2010/main" val="4228724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684FB-D190-AC49-8998-967DE7DB8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3B0A2-9E51-28B2-CF15-583F2DDC9DB8}"/>
              </a:ext>
            </a:extLst>
          </p:cNvPr>
          <p:cNvSpPr>
            <a:spLocks noGrp="1"/>
          </p:cNvSpPr>
          <p:nvPr>
            <p:ph type="title"/>
          </p:nvPr>
        </p:nvSpPr>
        <p:spPr>
          <a:xfrm>
            <a:off x="1377696" y="-98474"/>
            <a:ext cx="9032063" cy="1257300"/>
          </a:xfrm>
        </p:spPr>
        <p:txBody>
          <a:bodyPr/>
          <a:lstStyle/>
          <a:p>
            <a:r>
              <a:rPr lang="en-US" dirty="0"/>
              <a:t>Tempo– Yearly Trend</a:t>
            </a:r>
          </a:p>
        </p:txBody>
      </p:sp>
      <p:sp>
        <p:nvSpPr>
          <p:cNvPr id="10" name="TextBox 9">
            <a:extLst>
              <a:ext uri="{FF2B5EF4-FFF2-40B4-BE49-F238E27FC236}">
                <a16:creationId xmlns:a16="http://schemas.microsoft.com/office/drawing/2014/main" id="{F9822E77-A60E-22FB-2A44-80F8FF31816C}"/>
              </a:ext>
            </a:extLst>
          </p:cNvPr>
          <p:cNvSpPr txBox="1"/>
          <p:nvPr/>
        </p:nvSpPr>
        <p:spPr>
          <a:xfrm>
            <a:off x="7246997" y="2226917"/>
            <a:ext cx="4218172" cy="1631216"/>
          </a:xfrm>
          <a:prstGeom prst="rect">
            <a:avLst/>
          </a:prstGeom>
          <a:noFill/>
        </p:spPr>
        <p:txBody>
          <a:bodyPr wrap="square" rtlCol="0">
            <a:spAutoFit/>
          </a:bodyPr>
          <a:lstStyle/>
          <a:p>
            <a:r>
              <a:rPr lang="en-US" sz="2000" dirty="0"/>
              <a:t>Tempo stays within a </a:t>
            </a:r>
            <a:r>
              <a:rPr lang="en-US" sz="2000" b="1" dirty="0"/>
              <a:t>similar BPM range</a:t>
            </a:r>
            <a:r>
              <a:rPr lang="en-US" sz="2000" dirty="0"/>
              <a:t> each year.</a:t>
            </a:r>
          </a:p>
          <a:p>
            <a:r>
              <a:rPr lang="en-US" sz="2000" dirty="0"/>
              <a:t>No strong upward or downward trend.</a:t>
            </a:r>
          </a:p>
          <a:p>
            <a:r>
              <a:rPr lang="en-US" sz="2000" dirty="0"/>
              <a:t>Reflects stable listener preference for familiar tempos.</a:t>
            </a:r>
          </a:p>
        </p:txBody>
      </p:sp>
      <p:pic>
        <p:nvPicPr>
          <p:cNvPr id="9" name="Picture 8">
            <a:extLst>
              <a:ext uri="{FF2B5EF4-FFF2-40B4-BE49-F238E27FC236}">
                <a16:creationId xmlns:a16="http://schemas.microsoft.com/office/drawing/2014/main" id="{32D14903-2A48-574B-17DA-E774D361BC51}"/>
              </a:ext>
            </a:extLst>
          </p:cNvPr>
          <p:cNvPicPr>
            <a:picLocks noChangeAspect="1"/>
          </p:cNvPicPr>
          <p:nvPr/>
        </p:nvPicPr>
        <p:blipFill>
          <a:blip r:embed="rId2"/>
          <a:stretch>
            <a:fillRect/>
          </a:stretch>
        </p:blipFill>
        <p:spPr>
          <a:xfrm>
            <a:off x="254657" y="1268146"/>
            <a:ext cx="6430748" cy="4321707"/>
          </a:xfrm>
          <a:prstGeom prst="rect">
            <a:avLst/>
          </a:prstGeom>
        </p:spPr>
      </p:pic>
      <p:pic>
        <p:nvPicPr>
          <p:cNvPr id="4" name="Picture 3">
            <a:extLst>
              <a:ext uri="{FF2B5EF4-FFF2-40B4-BE49-F238E27FC236}">
                <a16:creationId xmlns:a16="http://schemas.microsoft.com/office/drawing/2014/main" id="{78E33A1D-7989-4E99-E827-0B51FCE86158}"/>
              </a:ext>
            </a:extLst>
          </p:cNvPr>
          <p:cNvPicPr>
            <a:picLocks noChangeAspect="1"/>
          </p:cNvPicPr>
          <p:nvPr/>
        </p:nvPicPr>
        <p:blipFill>
          <a:blip r:embed="rId3"/>
          <a:stretch>
            <a:fillRect/>
          </a:stretch>
        </p:blipFill>
        <p:spPr>
          <a:xfrm>
            <a:off x="303421" y="1238843"/>
            <a:ext cx="6381984" cy="4321707"/>
          </a:xfrm>
          <a:prstGeom prst="rect">
            <a:avLst/>
          </a:prstGeom>
        </p:spPr>
      </p:pic>
    </p:spTree>
    <p:extLst>
      <p:ext uri="{BB962C8B-B14F-4D97-AF65-F5344CB8AC3E}">
        <p14:creationId xmlns:p14="http://schemas.microsoft.com/office/powerpoint/2010/main" val="2432472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D8AE1-10AC-E34A-44D5-87A2EC19E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3312A-C845-F9A0-542A-584C08CEA101}"/>
              </a:ext>
            </a:extLst>
          </p:cNvPr>
          <p:cNvSpPr>
            <a:spLocks noGrp="1"/>
          </p:cNvSpPr>
          <p:nvPr>
            <p:ph type="title"/>
          </p:nvPr>
        </p:nvSpPr>
        <p:spPr>
          <a:xfrm>
            <a:off x="1377696" y="-98474"/>
            <a:ext cx="9032063" cy="1257300"/>
          </a:xfrm>
        </p:spPr>
        <p:txBody>
          <a:bodyPr/>
          <a:lstStyle/>
          <a:p>
            <a:r>
              <a:rPr lang="en-US" dirty="0"/>
              <a:t>Loudness– Yearly Trend</a:t>
            </a:r>
          </a:p>
        </p:txBody>
      </p:sp>
      <p:sp>
        <p:nvSpPr>
          <p:cNvPr id="10" name="TextBox 9">
            <a:extLst>
              <a:ext uri="{FF2B5EF4-FFF2-40B4-BE49-F238E27FC236}">
                <a16:creationId xmlns:a16="http://schemas.microsoft.com/office/drawing/2014/main" id="{F14CEAC6-7B8F-E64E-8255-F145803FC719}"/>
              </a:ext>
            </a:extLst>
          </p:cNvPr>
          <p:cNvSpPr txBox="1"/>
          <p:nvPr/>
        </p:nvSpPr>
        <p:spPr>
          <a:xfrm>
            <a:off x="7200105" y="2367594"/>
            <a:ext cx="4218172" cy="1631216"/>
          </a:xfrm>
          <a:prstGeom prst="rect">
            <a:avLst/>
          </a:prstGeom>
          <a:noFill/>
        </p:spPr>
        <p:txBody>
          <a:bodyPr wrap="square" rtlCol="0">
            <a:spAutoFit/>
          </a:bodyPr>
          <a:lstStyle/>
          <a:p>
            <a:r>
              <a:rPr lang="en-US" sz="2000" dirty="0"/>
              <a:t>Loudness levels show </a:t>
            </a:r>
            <a:r>
              <a:rPr lang="en-US" sz="2000" b="1" dirty="0"/>
              <a:t>slight variation</a:t>
            </a:r>
            <a:r>
              <a:rPr lang="en-US" sz="2000" dirty="0"/>
              <a:t>, mostly stable.</a:t>
            </a:r>
          </a:p>
          <a:p>
            <a:r>
              <a:rPr lang="en-US" sz="2000" dirty="0"/>
              <a:t>Reflects consistent mastering practices.</a:t>
            </a:r>
          </a:p>
          <a:p>
            <a:r>
              <a:rPr lang="en-US" sz="2000" dirty="0"/>
              <a:t>No major increase or decrease in loudness over time.</a:t>
            </a:r>
          </a:p>
        </p:txBody>
      </p:sp>
      <p:pic>
        <p:nvPicPr>
          <p:cNvPr id="9" name="Picture 8">
            <a:extLst>
              <a:ext uri="{FF2B5EF4-FFF2-40B4-BE49-F238E27FC236}">
                <a16:creationId xmlns:a16="http://schemas.microsoft.com/office/drawing/2014/main" id="{6E0A0939-DB51-7CD5-7E2E-633F910EA137}"/>
              </a:ext>
            </a:extLst>
          </p:cNvPr>
          <p:cNvPicPr>
            <a:picLocks noChangeAspect="1"/>
          </p:cNvPicPr>
          <p:nvPr/>
        </p:nvPicPr>
        <p:blipFill>
          <a:blip r:embed="rId2"/>
          <a:stretch>
            <a:fillRect/>
          </a:stretch>
        </p:blipFill>
        <p:spPr>
          <a:xfrm>
            <a:off x="254657" y="1268146"/>
            <a:ext cx="6430748" cy="4321707"/>
          </a:xfrm>
          <a:prstGeom prst="rect">
            <a:avLst/>
          </a:prstGeom>
        </p:spPr>
      </p:pic>
      <p:pic>
        <p:nvPicPr>
          <p:cNvPr id="4" name="Picture 3">
            <a:extLst>
              <a:ext uri="{FF2B5EF4-FFF2-40B4-BE49-F238E27FC236}">
                <a16:creationId xmlns:a16="http://schemas.microsoft.com/office/drawing/2014/main" id="{3EFB117F-C871-B93E-04C4-A50D974A06F6}"/>
              </a:ext>
            </a:extLst>
          </p:cNvPr>
          <p:cNvPicPr>
            <a:picLocks noChangeAspect="1"/>
          </p:cNvPicPr>
          <p:nvPr/>
        </p:nvPicPr>
        <p:blipFill>
          <a:blip r:embed="rId3"/>
          <a:stretch>
            <a:fillRect/>
          </a:stretch>
        </p:blipFill>
        <p:spPr>
          <a:xfrm>
            <a:off x="254657" y="1293646"/>
            <a:ext cx="6509990" cy="4321707"/>
          </a:xfrm>
          <a:prstGeom prst="rect">
            <a:avLst/>
          </a:prstGeom>
        </p:spPr>
      </p:pic>
    </p:spTree>
    <p:extLst>
      <p:ext uri="{BB962C8B-B14F-4D97-AF65-F5344CB8AC3E}">
        <p14:creationId xmlns:p14="http://schemas.microsoft.com/office/powerpoint/2010/main" val="17250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38638-A657-4F84-1B2D-5665AF84E8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8EFAE-E9E8-F19E-3012-746AC3D9C93F}"/>
              </a:ext>
            </a:extLst>
          </p:cNvPr>
          <p:cNvSpPr>
            <a:spLocks noGrp="1"/>
          </p:cNvSpPr>
          <p:nvPr>
            <p:ph type="title"/>
          </p:nvPr>
        </p:nvSpPr>
        <p:spPr>
          <a:xfrm>
            <a:off x="1377696" y="-98474"/>
            <a:ext cx="9032063" cy="1257300"/>
          </a:xfrm>
        </p:spPr>
        <p:txBody>
          <a:bodyPr/>
          <a:lstStyle/>
          <a:p>
            <a:r>
              <a:rPr lang="en-US" dirty="0"/>
              <a:t>Popularity – Yearly Trend</a:t>
            </a:r>
          </a:p>
        </p:txBody>
      </p:sp>
      <p:pic>
        <p:nvPicPr>
          <p:cNvPr id="7" name="Content Placeholder 6">
            <a:extLst>
              <a:ext uri="{FF2B5EF4-FFF2-40B4-BE49-F238E27FC236}">
                <a16:creationId xmlns:a16="http://schemas.microsoft.com/office/drawing/2014/main" id="{39166473-BAA7-E646-FA64-3920868275A5}"/>
              </a:ext>
            </a:extLst>
          </p:cNvPr>
          <p:cNvPicPr>
            <a:picLocks noGrp="1" noChangeAspect="1"/>
          </p:cNvPicPr>
          <p:nvPr>
            <p:ph idx="1"/>
          </p:nvPr>
        </p:nvPicPr>
        <p:blipFill>
          <a:blip r:embed="rId2"/>
          <a:stretch>
            <a:fillRect/>
          </a:stretch>
        </p:blipFill>
        <p:spPr>
          <a:xfrm>
            <a:off x="302664" y="1021373"/>
            <a:ext cx="5793336" cy="5143005"/>
          </a:xfrm>
        </p:spPr>
      </p:pic>
      <p:pic>
        <p:nvPicPr>
          <p:cNvPr id="4" name="Picture 3">
            <a:extLst>
              <a:ext uri="{FF2B5EF4-FFF2-40B4-BE49-F238E27FC236}">
                <a16:creationId xmlns:a16="http://schemas.microsoft.com/office/drawing/2014/main" id="{DB7FF610-07F9-9523-4EC1-09469D1557E0}"/>
              </a:ext>
            </a:extLst>
          </p:cNvPr>
          <p:cNvPicPr>
            <a:picLocks noChangeAspect="1"/>
          </p:cNvPicPr>
          <p:nvPr/>
        </p:nvPicPr>
        <p:blipFill>
          <a:blip r:embed="rId3"/>
          <a:stretch>
            <a:fillRect/>
          </a:stretch>
        </p:blipFill>
        <p:spPr>
          <a:xfrm>
            <a:off x="302664" y="1021373"/>
            <a:ext cx="6098136" cy="5223273"/>
          </a:xfrm>
          <a:prstGeom prst="rect">
            <a:avLst/>
          </a:prstGeom>
        </p:spPr>
      </p:pic>
      <p:sp>
        <p:nvSpPr>
          <p:cNvPr id="6" name="Rectangle 3">
            <a:extLst>
              <a:ext uri="{FF2B5EF4-FFF2-40B4-BE49-F238E27FC236}">
                <a16:creationId xmlns:a16="http://schemas.microsoft.com/office/drawing/2014/main" id="{8B95AF93-8E90-58FC-C8CE-CC4BFF2F6847}"/>
              </a:ext>
            </a:extLst>
          </p:cNvPr>
          <p:cNvSpPr>
            <a:spLocks noChangeArrowheads="1"/>
          </p:cNvSpPr>
          <p:nvPr/>
        </p:nvSpPr>
        <p:spPr bwMode="auto">
          <a:xfrm>
            <a:off x="6609681" y="1968045"/>
            <a:ext cx="480859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Average popularity stays </a:t>
            </a:r>
            <a:r>
              <a:rPr kumimoji="0" lang="en-US" altLang="en-US" sz="2000" b="1" i="0" u="none" strike="noStrike" cap="none" normalizeH="0" baseline="0" dirty="0">
                <a:ln>
                  <a:noFill/>
                </a:ln>
                <a:solidFill>
                  <a:schemeClr val="tx1"/>
                </a:solidFill>
                <a:effectLst/>
                <a:latin typeface="Arial" panose="020B0604020202020204" pitchFamily="34" charset="0"/>
              </a:rPr>
              <a:t>fairly stable</a:t>
            </a:r>
            <a:r>
              <a:rPr kumimoji="0" lang="en-US" altLang="en-US" sz="2000" b="0" i="0" u="none" strike="noStrike" cap="none" normalizeH="0" baseline="0" dirty="0">
                <a:ln>
                  <a:noFill/>
                </a:ln>
                <a:solidFill>
                  <a:schemeClr val="tx1"/>
                </a:solidFill>
                <a:effectLst/>
                <a:latin typeface="Arial" panose="020B0604020202020204" pitchFamily="34" charset="0"/>
              </a:rPr>
              <a:t> over years.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No major long-term rise or fall.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Popularity varies year to year due to trends &amp; listener behavior.</a:t>
            </a:r>
          </a:p>
        </p:txBody>
      </p:sp>
    </p:spTree>
    <p:extLst>
      <p:ext uri="{BB962C8B-B14F-4D97-AF65-F5344CB8AC3E}">
        <p14:creationId xmlns:p14="http://schemas.microsoft.com/office/powerpoint/2010/main" val="1354639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2AF52-CC41-4DF6-8B1F-D84AAE432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A92B5-598C-862A-FC1B-C6BDBE9C5B32}"/>
              </a:ext>
            </a:extLst>
          </p:cNvPr>
          <p:cNvSpPr>
            <a:spLocks noGrp="1"/>
          </p:cNvSpPr>
          <p:nvPr>
            <p:ph type="title"/>
          </p:nvPr>
        </p:nvSpPr>
        <p:spPr>
          <a:xfrm>
            <a:off x="1377696" y="-98474"/>
            <a:ext cx="9032063" cy="1257300"/>
          </a:xfrm>
        </p:spPr>
        <p:txBody>
          <a:bodyPr/>
          <a:lstStyle/>
          <a:p>
            <a:r>
              <a:rPr lang="en-US" dirty="0"/>
              <a:t>Danceability vs energy</a:t>
            </a:r>
          </a:p>
        </p:txBody>
      </p:sp>
      <p:sp>
        <p:nvSpPr>
          <p:cNvPr id="6" name="Rectangle 3">
            <a:extLst>
              <a:ext uri="{FF2B5EF4-FFF2-40B4-BE49-F238E27FC236}">
                <a16:creationId xmlns:a16="http://schemas.microsoft.com/office/drawing/2014/main" id="{62130168-EF94-3C03-52C8-3B3C6BF5264B}"/>
              </a:ext>
            </a:extLst>
          </p:cNvPr>
          <p:cNvSpPr>
            <a:spLocks noChangeArrowheads="1"/>
          </p:cNvSpPr>
          <p:nvPr/>
        </p:nvSpPr>
        <p:spPr bwMode="auto">
          <a:xfrm>
            <a:off x="6609681" y="1326421"/>
            <a:ext cx="5228937"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b="1" dirty="0"/>
          </a:p>
          <a:p>
            <a:pPr marL="342900" indent="-342900">
              <a:buFont typeface="Arial" panose="020B0604020202020204" pitchFamily="34" charset="0"/>
              <a:buChar char="•"/>
            </a:pPr>
            <a:r>
              <a:rPr lang="en-US" dirty="0"/>
              <a:t>Both </a:t>
            </a:r>
            <a:r>
              <a:rPr lang="en-US" b="1" dirty="0"/>
              <a:t>danceability and energy remain fairly stable</a:t>
            </a:r>
            <a:r>
              <a:rPr lang="en-US" dirty="0"/>
              <a:t> across the years, with only small fluctuations.</a:t>
            </a:r>
          </a:p>
          <a:p>
            <a:pPr marL="342900" indent="-342900">
              <a:buFont typeface="Arial" panose="020B0604020202020204" pitchFamily="34" charset="0"/>
              <a:buChar char="•"/>
            </a:pPr>
            <a:r>
              <a:rPr lang="en-US" dirty="0"/>
              <a:t>Danceability shows a </a:t>
            </a:r>
            <a:r>
              <a:rPr lang="en-US" b="1" dirty="0"/>
              <a:t>slightly steadier pattern</a:t>
            </a:r>
            <a:r>
              <a:rPr lang="en-US" dirty="0"/>
              <a:t>, indicating consistent rhythmic characteristics in music over time.</a:t>
            </a:r>
          </a:p>
          <a:p>
            <a:pPr marL="342900" indent="-342900">
              <a:buFont typeface="Arial" panose="020B0604020202020204" pitchFamily="34" charset="0"/>
              <a:buChar char="•"/>
            </a:pPr>
            <a:r>
              <a:rPr lang="en-US" dirty="0"/>
              <a:t>Energy also stays within a </a:t>
            </a:r>
            <a:r>
              <a:rPr lang="en-US" b="1" dirty="0"/>
              <a:t>similar range</a:t>
            </a:r>
            <a:r>
              <a:rPr lang="en-US" dirty="0"/>
              <a:t>, meaning the intensity of songs has not changed drastically.</a:t>
            </a:r>
          </a:p>
          <a:p>
            <a:pPr marL="342900" indent="-342900">
              <a:buFont typeface="Arial" panose="020B0604020202020204" pitchFamily="34" charset="0"/>
              <a:buChar char="•"/>
            </a:pPr>
            <a:r>
              <a:rPr lang="en-US" dirty="0"/>
              <a:t>There are </a:t>
            </a:r>
            <a:r>
              <a:rPr lang="en-US" b="1" dirty="0"/>
              <a:t>no major upward or downward trends</a:t>
            </a:r>
            <a:r>
              <a:rPr lang="en-US" dirty="0"/>
              <a:t>, suggesting that core musical features have remained consistent across the years.</a:t>
            </a:r>
          </a:p>
          <a:p>
            <a:pPr marL="342900" indent="-342900">
              <a:buFont typeface="Arial" panose="020B0604020202020204" pitchFamily="34" charset="0"/>
              <a:buChar char="•"/>
            </a:pPr>
            <a:r>
              <a:rPr lang="en-US" dirty="0"/>
              <a:t>Minor variations reflect </a:t>
            </a:r>
            <a:r>
              <a:rPr lang="en-US" b="1" dirty="0"/>
              <a:t>shifts in musical styles</a:t>
            </a:r>
            <a:r>
              <a:rPr lang="en-US" dirty="0"/>
              <a:t>, but not enough to indicate a long-term change.</a:t>
            </a:r>
          </a:p>
          <a:p>
            <a:pPr marL="342900" indent="-342900">
              <a:buFont typeface="Arial" panose="020B0604020202020204" pitchFamily="34" charset="0"/>
              <a:buChar char="•"/>
            </a:pPr>
            <a:r>
              <a:rPr lang="en-US" dirty="0"/>
              <a:t>Overall, the graph shows that modern music maintains a </a:t>
            </a:r>
            <a:r>
              <a:rPr lang="en-US" b="1" dirty="0"/>
              <a:t>balanced mix of rhythm (danceability) and intensity (energy)</a:t>
            </a:r>
            <a:r>
              <a:rPr lang="en-US" dirty="0"/>
              <a:t> over time.</a:t>
            </a:r>
          </a:p>
        </p:txBody>
      </p:sp>
      <p:pic>
        <p:nvPicPr>
          <p:cNvPr id="5" name="Picture 4">
            <a:extLst>
              <a:ext uri="{FF2B5EF4-FFF2-40B4-BE49-F238E27FC236}">
                <a16:creationId xmlns:a16="http://schemas.microsoft.com/office/drawing/2014/main" id="{21224356-A8FA-B5E8-25EA-0D96D2A266BD}"/>
              </a:ext>
            </a:extLst>
          </p:cNvPr>
          <p:cNvPicPr>
            <a:picLocks noChangeAspect="1"/>
          </p:cNvPicPr>
          <p:nvPr/>
        </p:nvPicPr>
        <p:blipFill>
          <a:blip r:embed="rId2"/>
          <a:stretch>
            <a:fillRect/>
          </a:stretch>
        </p:blipFill>
        <p:spPr>
          <a:xfrm>
            <a:off x="-51163" y="1158827"/>
            <a:ext cx="6236206" cy="4890282"/>
          </a:xfrm>
          <a:prstGeom prst="rect">
            <a:avLst/>
          </a:prstGeom>
        </p:spPr>
      </p:pic>
    </p:spTree>
    <p:extLst>
      <p:ext uri="{BB962C8B-B14F-4D97-AF65-F5344CB8AC3E}">
        <p14:creationId xmlns:p14="http://schemas.microsoft.com/office/powerpoint/2010/main" val="2310356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C5ED3-64DE-B44F-7748-5A83561B85C5}"/>
              </a:ext>
            </a:extLst>
          </p:cNvPr>
          <p:cNvSpPr>
            <a:spLocks noGrp="1"/>
          </p:cNvSpPr>
          <p:nvPr>
            <p:ph type="title"/>
          </p:nvPr>
        </p:nvSpPr>
        <p:spPr>
          <a:xfrm>
            <a:off x="225083" y="-190499"/>
            <a:ext cx="10353762" cy="1257300"/>
          </a:xfrm>
        </p:spPr>
        <p:txBody>
          <a:bodyPr/>
          <a:lstStyle/>
          <a:p>
            <a:r>
              <a:rPr lang="en-US" dirty="0"/>
              <a:t>YEARLY TRENDS</a:t>
            </a:r>
          </a:p>
        </p:txBody>
      </p:sp>
      <p:pic>
        <p:nvPicPr>
          <p:cNvPr id="5" name="Content Placeholder 4">
            <a:extLst>
              <a:ext uri="{FF2B5EF4-FFF2-40B4-BE49-F238E27FC236}">
                <a16:creationId xmlns:a16="http://schemas.microsoft.com/office/drawing/2014/main" id="{03CFB3B3-478F-477B-9A85-68C31C300772}"/>
              </a:ext>
            </a:extLst>
          </p:cNvPr>
          <p:cNvPicPr>
            <a:picLocks noGrp="1" noChangeAspect="1"/>
          </p:cNvPicPr>
          <p:nvPr>
            <p:ph idx="1"/>
          </p:nvPr>
        </p:nvPicPr>
        <p:blipFill>
          <a:blip r:embed="rId2"/>
          <a:stretch>
            <a:fillRect/>
          </a:stretch>
        </p:blipFill>
        <p:spPr>
          <a:xfrm>
            <a:off x="353817" y="1232387"/>
            <a:ext cx="7275164" cy="5196547"/>
          </a:xfrm>
          <a:prstGeom prst="rect">
            <a:avLst/>
          </a:prstGeom>
          <a:effectLst>
            <a:outerShdw blurRad="25400" dir="17880000">
              <a:srgbClr val="000000">
                <a:alpha val="46000"/>
              </a:srgbClr>
            </a:outerShdw>
          </a:effectLst>
        </p:spPr>
      </p:pic>
      <p:sp>
        <p:nvSpPr>
          <p:cNvPr id="6" name="TextBox 5">
            <a:extLst>
              <a:ext uri="{FF2B5EF4-FFF2-40B4-BE49-F238E27FC236}">
                <a16:creationId xmlns:a16="http://schemas.microsoft.com/office/drawing/2014/main" id="{4F271637-A2E0-CFD0-4C4A-AA81DE81527D}"/>
              </a:ext>
            </a:extLst>
          </p:cNvPr>
          <p:cNvSpPr txBox="1"/>
          <p:nvPr/>
        </p:nvSpPr>
        <p:spPr>
          <a:xfrm>
            <a:off x="7849772" y="1232387"/>
            <a:ext cx="3988411" cy="4524315"/>
          </a:xfrm>
          <a:prstGeom prst="rect">
            <a:avLst/>
          </a:prstGeom>
          <a:noFill/>
        </p:spPr>
        <p:txBody>
          <a:bodyPr wrap="square" rtlCol="0">
            <a:spAutoFit/>
          </a:bodyPr>
          <a:lstStyle/>
          <a:p>
            <a:r>
              <a:rPr lang="en-US"/>
              <a:t>Analyzing these audio features over time reveals several key evolutions in music. Average song popularity fluctuates annually, which likely mirrors shifts in mainstream musical tastes and listener preferences. Similarly, the average danceability of songs shows gradual changes, pointing to an evolution in production styles where tracks become more or less rhythm-focused. Finally, trends in average loudness can be observed, with historical increases or decreases possibly reflecting broader industry practices such as the "loudness war" or new approaches to audio mastering.</a:t>
            </a:r>
          </a:p>
        </p:txBody>
      </p:sp>
    </p:spTree>
    <p:extLst>
      <p:ext uri="{BB962C8B-B14F-4D97-AF65-F5344CB8AC3E}">
        <p14:creationId xmlns:p14="http://schemas.microsoft.com/office/powerpoint/2010/main" val="2970294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21BE2-F21D-43DE-C623-CB61BA273C2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AB9E828-5885-C8E2-4A5F-1EF500628B20}"/>
              </a:ext>
            </a:extLst>
          </p:cNvPr>
          <p:cNvSpPr txBox="1"/>
          <p:nvPr/>
        </p:nvSpPr>
        <p:spPr>
          <a:xfrm>
            <a:off x="717452" y="590844"/>
            <a:ext cx="10494499" cy="4893647"/>
          </a:xfrm>
          <a:prstGeom prst="rect">
            <a:avLst/>
          </a:prstGeom>
          <a:noFill/>
        </p:spPr>
        <p:txBody>
          <a:bodyPr wrap="square" rtlCol="0">
            <a:spAutoFit/>
          </a:bodyPr>
          <a:lstStyle/>
          <a:p>
            <a:r>
              <a:rPr lang="en-US" sz="2400" b="1" dirty="0"/>
              <a:t>⭐ Key Insights from Time Series Analysis</a:t>
            </a:r>
          </a:p>
          <a:p>
            <a:r>
              <a:rPr lang="en-US" sz="2400" dirty="0"/>
              <a:t>The overall musical features — </a:t>
            </a:r>
            <a:r>
              <a:rPr lang="en-US" sz="2400" b="1" dirty="0"/>
              <a:t>popularity, danceability, energy, tempo, and loudness</a:t>
            </a:r>
            <a:r>
              <a:rPr lang="en-US" sz="2400" dirty="0"/>
              <a:t> — remain </a:t>
            </a:r>
            <a:r>
              <a:rPr lang="en-US" sz="2400" b="1" dirty="0"/>
              <a:t>fairly stable across the years</a:t>
            </a:r>
            <a:r>
              <a:rPr lang="en-US" sz="2400" dirty="0"/>
              <a:t>, showing no drastic long-term shifts.</a:t>
            </a:r>
          </a:p>
          <a:p>
            <a:r>
              <a:rPr lang="en-US" sz="2400" b="1" dirty="0"/>
              <a:t>Popularity fluctuates year to year</a:t>
            </a:r>
            <a:r>
              <a:rPr lang="en-US" sz="2400" dirty="0"/>
              <a:t>, suggesting that hit songs depend more on trends, marketing, and cultural moments rather than time-based patterns in audio features.</a:t>
            </a:r>
          </a:p>
          <a:p>
            <a:r>
              <a:rPr lang="en-US" sz="2400" b="1" dirty="0"/>
              <a:t>Danceability and energy maintain steady levels</a:t>
            </a:r>
            <a:r>
              <a:rPr lang="en-US" sz="2400" dirty="0"/>
              <a:t>, indicating that modern music consistently favors rhythmic, energetic production styles.</a:t>
            </a:r>
          </a:p>
          <a:p>
            <a:r>
              <a:rPr lang="en-US" sz="2400" b="1" dirty="0"/>
              <a:t>Tempo stays within a similar BPM range</a:t>
            </a:r>
            <a:r>
              <a:rPr lang="en-US" sz="2400" dirty="0"/>
              <a:t> over time, showing that listener preferences for song speed remain relatively unchanged.</a:t>
            </a:r>
          </a:p>
          <a:p>
            <a:r>
              <a:rPr lang="en-US" sz="2400" b="1" dirty="0"/>
              <a:t>Loudness varies slightly</a:t>
            </a:r>
            <a:r>
              <a:rPr lang="en-US" sz="2400" dirty="0"/>
              <a:t>, reflecting mastering and production trends, but shows no extreme shifts in recent years.</a:t>
            </a:r>
          </a:p>
          <a:p>
            <a:r>
              <a:rPr lang="en-US" sz="2400" dirty="0"/>
              <a:t>Overall, the time series reveals that while the music industry evolves, the </a:t>
            </a:r>
            <a:r>
              <a:rPr lang="en-US" sz="2400" b="1" dirty="0"/>
              <a:t>core audio characteristics of mainstream tracks remain surprisingly consistent over time</a:t>
            </a:r>
            <a:r>
              <a:rPr lang="en-US" sz="2400" dirty="0"/>
              <a:t>.</a:t>
            </a:r>
          </a:p>
        </p:txBody>
      </p:sp>
    </p:spTree>
    <p:extLst>
      <p:ext uri="{BB962C8B-B14F-4D97-AF65-F5344CB8AC3E}">
        <p14:creationId xmlns:p14="http://schemas.microsoft.com/office/powerpoint/2010/main" val="2421337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10D98-48B7-D5BC-F57E-1AF45E57D6ED}"/>
              </a:ext>
            </a:extLst>
          </p:cNvPr>
          <p:cNvSpPr>
            <a:spLocks noGrp="1"/>
          </p:cNvSpPr>
          <p:nvPr>
            <p:ph type="title"/>
          </p:nvPr>
        </p:nvSpPr>
        <p:spPr>
          <a:xfrm>
            <a:off x="280749" y="103163"/>
            <a:ext cx="10353762" cy="1257300"/>
          </a:xfrm>
        </p:spPr>
        <p:txBody>
          <a:bodyPr/>
          <a:lstStyle/>
          <a:p>
            <a:r>
              <a:rPr lang="en-US" dirty="0"/>
              <a:t>CONCLUSION</a:t>
            </a:r>
          </a:p>
        </p:txBody>
      </p:sp>
      <p:sp>
        <p:nvSpPr>
          <p:cNvPr id="4" name="Rectangle 1">
            <a:extLst>
              <a:ext uri="{FF2B5EF4-FFF2-40B4-BE49-F238E27FC236}">
                <a16:creationId xmlns:a16="http://schemas.microsoft.com/office/drawing/2014/main" id="{6E457B02-0E58-8440-CF94-DA2B7CFF953F}"/>
              </a:ext>
            </a:extLst>
          </p:cNvPr>
          <p:cNvSpPr>
            <a:spLocks noGrp="1" noChangeArrowheads="1"/>
          </p:cNvSpPr>
          <p:nvPr>
            <p:ph idx="1"/>
          </p:nvPr>
        </p:nvSpPr>
        <p:spPr bwMode="auto">
          <a:xfrm>
            <a:off x="560363" y="1720840"/>
            <a:ext cx="1107127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Popularity Distribution:</a:t>
            </a:r>
            <a:r>
              <a:rPr kumimoji="0" lang="en-US" altLang="en-US" sz="1800" b="0" i="0" u="none" strike="noStrike" cap="none" normalizeH="0" baseline="0" dirty="0">
                <a:ln>
                  <a:noFill/>
                </a:ln>
                <a:solidFill>
                  <a:schemeClr val="tx1"/>
                </a:solidFill>
                <a:effectLst/>
                <a:latin typeface="Arial" panose="020B0604020202020204" pitchFamily="34" charset="0"/>
              </a:rPr>
              <a:t> The majority of tracks have </a:t>
            </a:r>
            <a:r>
              <a:rPr kumimoji="0" lang="en-US" altLang="en-US" sz="1800" b="1" i="0" u="none" strike="noStrike" cap="none" normalizeH="0" baseline="0" dirty="0">
                <a:ln>
                  <a:noFill/>
                </a:ln>
                <a:solidFill>
                  <a:schemeClr val="tx1"/>
                </a:solidFill>
                <a:effectLst/>
                <a:latin typeface="Arial" panose="020B0604020202020204" pitchFamily="34" charset="0"/>
              </a:rPr>
              <a:t>moderate popularity</a:t>
            </a:r>
            <a:r>
              <a:rPr kumimoji="0" lang="en-US" altLang="en-US" sz="1800" b="0" i="0" u="none" strike="noStrike" cap="none" normalizeH="0" baseline="0" dirty="0">
                <a:ln>
                  <a:noFill/>
                </a:ln>
                <a:solidFill>
                  <a:schemeClr val="tx1"/>
                </a:solidFill>
                <a:effectLst/>
                <a:latin typeface="Arial" panose="020B0604020202020204" pitchFamily="34" charset="0"/>
              </a:rPr>
              <a:t> (scores between 20–50), while only a select few achieve global hit status with scores of 80 or higher.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Danceability:</a:t>
            </a:r>
            <a:r>
              <a:rPr kumimoji="0" lang="en-US" altLang="en-US" sz="1800" b="0" i="0" u="none" strike="noStrike" cap="none" normalizeH="0" baseline="0" dirty="0">
                <a:ln>
                  <a:noFill/>
                </a:ln>
                <a:solidFill>
                  <a:schemeClr val="tx1"/>
                </a:solidFill>
                <a:effectLst/>
                <a:latin typeface="Arial" panose="020B0604020202020204" pitchFamily="34" charset="0"/>
              </a:rPr>
              <a:t> Spotify’s catalog leans heavily toward upbeat and rhythm-driven music, with the </a:t>
            </a:r>
            <a:r>
              <a:rPr kumimoji="0" lang="en-US" altLang="en-US" sz="1800" b="1" i="0" u="none" strike="noStrike" cap="none" normalizeH="0" baseline="0" dirty="0">
                <a:ln>
                  <a:noFill/>
                </a:ln>
                <a:solidFill>
                  <a:schemeClr val="tx1"/>
                </a:solidFill>
                <a:effectLst/>
                <a:latin typeface="Arial" panose="020B0604020202020204" pitchFamily="34" charset="0"/>
              </a:rPr>
              <a:t>majority of songs being moderately to highly danceable</a:t>
            </a:r>
            <a:r>
              <a:rPr kumimoji="0" lang="en-US" altLang="en-US" sz="1800" b="0" i="0" u="none" strike="noStrike" cap="none" normalizeH="0" baseline="0" dirty="0">
                <a:ln>
                  <a:noFill/>
                </a:ln>
                <a:solidFill>
                  <a:schemeClr val="tx1"/>
                </a:solidFill>
                <a:effectLst/>
                <a:latin typeface="Arial" panose="020B0604020202020204" pitchFamily="34" charset="0"/>
              </a:rPr>
              <a:t> (0.5–0.8).</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Energy Levels: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High-energy songs dominate the dataset</a:t>
            </a:r>
            <a:r>
              <a:rPr kumimoji="0" lang="en-US" altLang="en-US" sz="1800" b="0" i="0" u="none" strike="noStrike" cap="none" normalizeH="0" baseline="0" dirty="0">
                <a:ln>
                  <a:noFill/>
                </a:ln>
                <a:solidFill>
                  <a:schemeClr val="tx1"/>
                </a:solidFill>
                <a:effectLst/>
                <a:latin typeface="Arial" panose="020B0604020202020204" pitchFamily="34" charset="0"/>
              </a:rPr>
              <a:t>. There are very few calm or low-energy tracks, showing a clear listener preference for lively music.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Correlations: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Energy, loudness, and danceability are positively correlated</a:t>
            </a:r>
            <a:r>
              <a:rPr kumimoji="0" lang="en-US" altLang="en-US" sz="1800" b="0" i="0" u="none" strike="noStrike" cap="none" normalizeH="0" baseline="0" dirty="0">
                <a:ln>
                  <a:noFill/>
                </a:ln>
                <a:solidFill>
                  <a:schemeClr val="tx1"/>
                </a:solidFill>
                <a:effectLst/>
                <a:latin typeface="Arial" panose="020B0604020202020204" pitchFamily="34" charset="0"/>
              </a:rPr>
              <a:t>. In contrast, </a:t>
            </a:r>
            <a:r>
              <a:rPr kumimoji="0" lang="en-US" altLang="en-US" sz="1800" b="0" i="0" u="none" strike="noStrike" cap="none" normalizeH="0" baseline="0" dirty="0" err="1">
                <a:ln>
                  <a:noFill/>
                </a:ln>
                <a:solidFill>
                  <a:schemeClr val="tx1"/>
                </a:solidFill>
                <a:effectLst/>
                <a:latin typeface="Arial" panose="020B0604020202020204" pitchFamily="34" charset="0"/>
              </a:rPr>
              <a:t>acousticness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0" u="none" strike="noStrike" cap="none" normalizeH="0" baseline="0" dirty="0" err="1">
                <a:ln>
                  <a:noFill/>
                </a:ln>
                <a:solidFill>
                  <a:schemeClr val="tx1"/>
                </a:solidFill>
                <a:effectLst/>
                <a:latin typeface="Arial" panose="020B0604020202020204" pitchFamily="34" charset="0"/>
              </a:rPr>
              <a:t>instrumentalness</a:t>
            </a:r>
            <a:r>
              <a:rPr kumimoji="0" lang="en-US" altLang="en-US" sz="1800" b="0" i="0" u="none" strike="noStrike" cap="none" normalizeH="0" baseline="0" dirty="0">
                <a:ln>
                  <a:noFill/>
                </a:ln>
                <a:solidFill>
                  <a:schemeClr val="tx1"/>
                </a:solidFill>
                <a:effectLst/>
                <a:latin typeface="Arial" panose="020B0604020202020204" pitchFamily="34" charset="0"/>
              </a:rPr>
              <a:t> are negatively correlated with these attributes. Popularity itself has only a weak link to any single feature, indicating that multiple factors influence a hit.</a:t>
            </a:r>
          </a:p>
        </p:txBody>
      </p:sp>
    </p:spTree>
    <p:extLst>
      <p:ext uri="{BB962C8B-B14F-4D97-AF65-F5344CB8AC3E}">
        <p14:creationId xmlns:p14="http://schemas.microsoft.com/office/powerpoint/2010/main" val="25722242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A747EC3-2266-AA9C-4C01-6B3D367A3976}"/>
              </a:ext>
            </a:extLst>
          </p:cNvPr>
          <p:cNvSpPr>
            <a:spLocks noGrp="1" noChangeArrowheads="1"/>
          </p:cNvSpPr>
          <p:nvPr>
            <p:ph idx="1"/>
          </p:nvPr>
        </p:nvSpPr>
        <p:spPr bwMode="auto">
          <a:xfrm>
            <a:off x="587637" y="1037114"/>
            <a:ext cx="1101672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Language Impact: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English-language tracks generally show higher popularity</a:t>
            </a:r>
            <a:r>
              <a:rPr kumimoji="0" lang="en-US" altLang="en-US" sz="1800" b="0" i="0" u="none" strike="noStrike" cap="none" normalizeH="0" baseline="0" dirty="0">
                <a:ln>
                  <a:noFill/>
                </a:ln>
                <a:solidFill>
                  <a:schemeClr val="tx1"/>
                </a:solidFill>
                <a:effectLst/>
                <a:latin typeface="Arial" panose="020B0604020202020204" pitchFamily="34" charset="0"/>
              </a:rPr>
              <a:t> due to a wider global audience, but exceptional hits can and do emerge in all languages.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Artist Performance:</a:t>
            </a:r>
            <a:r>
              <a:rPr kumimoji="0" lang="en-US" altLang="en-US" sz="1800" b="0" i="0" u="none" strike="noStrike" cap="none" normalizeH="0" baseline="0" dirty="0">
                <a:ln>
                  <a:noFill/>
                </a:ln>
                <a:solidFill>
                  <a:schemeClr val="tx1"/>
                </a:solidFill>
                <a:effectLst/>
                <a:latin typeface="Arial" panose="020B0604020202020204" pitchFamily="34" charset="0"/>
              </a:rPr>
              <a:t> A few </a:t>
            </a:r>
            <a:r>
              <a:rPr kumimoji="0" lang="en-US" altLang="en-US" sz="1800" b="1" i="0" u="none" strike="noStrike" cap="none" normalizeH="0" baseline="0" dirty="0">
                <a:ln>
                  <a:noFill/>
                </a:ln>
                <a:solidFill>
                  <a:schemeClr val="tx1"/>
                </a:solidFill>
                <a:effectLst/>
                <a:latin typeface="Arial" panose="020B0604020202020204" pitchFamily="34" charset="0"/>
              </a:rPr>
              <a:t>top artists consistently maintain higher average popularity</a:t>
            </a:r>
            <a:r>
              <a:rPr kumimoji="0" lang="en-US" altLang="en-US" sz="1800" b="0" i="0" u="none" strike="noStrike" cap="none" normalizeH="0" baseline="0" dirty="0">
                <a:ln>
                  <a:noFill/>
                </a:ln>
                <a:solidFill>
                  <a:schemeClr val="tx1"/>
                </a:solidFill>
                <a:effectLst/>
                <a:latin typeface="Arial" panose="020B0604020202020204" pitchFamily="34" charset="0"/>
              </a:rPr>
              <a:t>, showing that sustained success depends on consistent audience engagement, not just one-time hits.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Yearly Trends:</a:t>
            </a:r>
            <a:r>
              <a:rPr kumimoji="0" lang="en-US" altLang="en-US" sz="1800" b="0" i="0" u="none" strike="noStrike" cap="none" normalizeH="0" baseline="0" dirty="0">
                <a:ln>
                  <a:noFill/>
                </a:ln>
                <a:solidFill>
                  <a:schemeClr val="tx1"/>
                </a:solidFill>
                <a:effectLst/>
                <a:latin typeface="Arial" panose="020B0604020202020204" pitchFamily="34" charset="0"/>
              </a:rPr>
              <a:t> Key musical attributes like </a:t>
            </a:r>
            <a:r>
              <a:rPr kumimoji="0" lang="en-US" altLang="en-US" sz="1800" b="1" i="0" u="none" strike="noStrike" cap="none" normalizeH="0" baseline="0" dirty="0">
                <a:ln>
                  <a:noFill/>
                </a:ln>
                <a:solidFill>
                  <a:schemeClr val="tx1"/>
                </a:solidFill>
                <a:effectLst/>
                <a:latin typeface="Arial" panose="020B0604020202020204" pitchFamily="34" charset="0"/>
              </a:rPr>
              <a:t>popularity, danceability, and loudness evolve over the years</a:t>
            </a:r>
            <a:r>
              <a:rPr kumimoji="0" lang="en-US" altLang="en-US" sz="1800" b="0" i="0" u="none" strike="noStrike" cap="none" normalizeH="0" baseline="0" dirty="0">
                <a:ln>
                  <a:noFill/>
                </a:ln>
                <a:solidFill>
                  <a:schemeClr val="tx1"/>
                </a:solidFill>
                <a:effectLst/>
                <a:latin typeface="Arial" panose="020B0604020202020204" pitchFamily="34" charset="0"/>
              </a:rPr>
              <a:t>, reflecting ongoing changes in listener preferences and music production styles.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Acousticness</a:t>
            </a:r>
            <a:r>
              <a:rPr kumimoji="0" lang="en-US" altLang="en-US" sz="1800" b="1" i="0" u="none" strike="noStrike" cap="none" normalizeH="0" baseline="0" dirty="0">
                <a:ln>
                  <a:noFill/>
                </a:ln>
                <a:solidFill>
                  <a:schemeClr val="tx1"/>
                </a:solidFill>
                <a:effectLst/>
                <a:latin typeface="Arial" panose="020B0604020202020204" pitchFamily="34" charset="0"/>
              </a:rPr>
              <a:t> "Sweet Spot":</a:t>
            </a:r>
            <a:r>
              <a:rPr kumimoji="0" lang="en-US" altLang="en-US" sz="1800" b="0" i="0" u="none" strike="noStrike" cap="none" normalizeH="0" baseline="0" dirty="0">
                <a:ln>
                  <a:noFill/>
                </a:ln>
                <a:solidFill>
                  <a:schemeClr val="tx1"/>
                </a:solidFill>
                <a:effectLst/>
                <a:latin typeface="Arial" panose="020B0604020202020204" pitchFamily="34" charset="0"/>
              </a:rPr>
              <a:t> Songs with </a:t>
            </a:r>
            <a:r>
              <a:rPr kumimoji="0" lang="en-US" altLang="en-US" sz="1800" b="1" i="0" u="none" strike="noStrike" cap="none" normalizeH="0" baseline="0" dirty="0">
                <a:ln>
                  <a:noFill/>
                </a:ln>
                <a:solidFill>
                  <a:schemeClr val="tx1"/>
                </a:solidFill>
                <a:effectLst/>
                <a:latin typeface="Arial" panose="020B0604020202020204" pitchFamily="34" charset="0"/>
              </a:rPr>
              <a:t>moderate </a:t>
            </a:r>
            <a:r>
              <a:rPr kumimoji="0" lang="en-US" altLang="en-US" sz="1800" b="1" i="0" u="none" strike="noStrike" cap="none" normalizeH="0" baseline="0" dirty="0" err="1">
                <a:ln>
                  <a:noFill/>
                </a:ln>
                <a:solidFill>
                  <a:schemeClr val="tx1"/>
                </a:solidFill>
                <a:effectLst/>
                <a:latin typeface="Arial" panose="020B0604020202020204" pitchFamily="34" charset="0"/>
              </a:rPr>
              <a:t>acousticness</a:t>
            </a:r>
            <a:r>
              <a:rPr kumimoji="0" lang="en-US" altLang="en-US" sz="1800" b="0" i="0" u="none" strike="noStrike" cap="none" normalizeH="0" baseline="0" dirty="0">
                <a:ln>
                  <a:noFill/>
                </a:ln>
                <a:solidFill>
                  <a:schemeClr val="tx1"/>
                </a:solidFill>
                <a:effectLst/>
                <a:latin typeface="Arial" panose="020B0604020202020204" pitchFamily="34" charset="0"/>
              </a:rPr>
              <a:t>—a blend of acoustic and electronic elements—tend to be the most popular, outperforming tracks that are either purely acoustic or overly electronic.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Overall Observation:</a:t>
            </a:r>
            <a:r>
              <a:rPr kumimoji="0" lang="en-US" altLang="en-US" sz="1800" b="0" i="0" u="none" strike="noStrike" cap="none" normalizeH="0" baseline="0" dirty="0">
                <a:ln>
                  <a:noFill/>
                </a:ln>
                <a:solidFill>
                  <a:schemeClr val="tx1"/>
                </a:solidFill>
                <a:effectLst/>
                <a:latin typeface="Arial" panose="020B0604020202020204" pitchFamily="34" charset="0"/>
              </a:rPr>
              <a:t> A song's popularity depends on a </a:t>
            </a:r>
            <a:r>
              <a:rPr kumimoji="0" lang="en-US" altLang="en-US" sz="1800" b="1" i="0" u="none" strike="noStrike" cap="none" normalizeH="0" baseline="0" dirty="0">
                <a:ln>
                  <a:noFill/>
                </a:ln>
                <a:solidFill>
                  <a:schemeClr val="tx1"/>
                </a:solidFill>
                <a:effectLst/>
                <a:latin typeface="Arial" panose="020B0604020202020204" pitchFamily="34" charset="0"/>
              </a:rPr>
              <a:t>balanced combination of features</a:t>
            </a:r>
            <a:r>
              <a:rPr kumimoji="0" lang="en-US" altLang="en-US" sz="1800" b="0" i="0" u="none" strike="noStrike" cap="none" normalizeH="0" baseline="0" dirty="0">
                <a:ln>
                  <a:noFill/>
                </a:ln>
                <a:solidFill>
                  <a:schemeClr val="tx1"/>
                </a:solidFill>
                <a:effectLst/>
                <a:latin typeface="Arial" panose="020B0604020202020204" pitchFamily="34" charset="0"/>
              </a:rPr>
              <a:t> rather than extremes. Overall, Spotify listeners prefer energetic, danceable, and emotionally positive music.</a:t>
            </a:r>
          </a:p>
        </p:txBody>
      </p:sp>
    </p:spTree>
    <p:extLst>
      <p:ext uri="{BB962C8B-B14F-4D97-AF65-F5344CB8AC3E}">
        <p14:creationId xmlns:p14="http://schemas.microsoft.com/office/powerpoint/2010/main" val="3606957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2">
    <a:dk1>
      <a:sysClr val="windowText" lastClr="000000"/>
    </a:dk1>
    <a:lt1>
      <a:sysClr val="window" lastClr="FFFFFF"/>
    </a:lt1>
    <a:dk2>
      <a:srgbClr val="454551"/>
    </a:dk2>
    <a:lt2>
      <a:srgbClr val="E3E3E5"/>
    </a:lt2>
    <a:accent1>
      <a:srgbClr val="FE09E3"/>
    </a:accent1>
    <a:accent2>
      <a:srgbClr val="00ACF5"/>
    </a:accent2>
    <a:accent3>
      <a:srgbClr val="55CB72"/>
    </a:accent3>
    <a:accent4>
      <a:srgbClr val="EFC926"/>
    </a:accent4>
    <a:accent5>
      <a:srgbClr val="969696"/>
    </a:accent5>
    <a:accent6>
      <a:srgbClr val="D54773"/>
    </a:accent6>
    <a:hlink>
      <a:srgbClr val="6B9F25"/>
    </a:hlink>
    <a:folHlink>
      <a:srgbClr val="8C8C8C"/>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73CC670F-05B9-4BB7-BA2C-0DE5B5C1E5D3}">
  <ds:schemaRefs>
    <ds:schemaRef ds:uri="http://schemas.microsoft.com/sharepoint/v3/contenttype/forms"/>
  </ds:schemaRefs>
</ds:datastoreItem>
</file>

<file path=customXml/itemProps2.xml><?xml version="1.0" encoding="utf-8"?>
<ds:datastoreItem xmlns:ds="http://schemas.openxmlformats.org/officeDocument/2006/customXml" ds:itemID="{189B453C-F2B2-4ECA-A6ED-7DBEF1B6D3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2A3AD49-9331-450C-A2FE-6857A4DB38C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{51C888B3-573B-4A8B-A946-D8534F9A7599}TF4f6a21e4-c5e3-43c0-9a45-6f250da3af3564e1c59d_win32-7c83cc0e940a</Template>
  <TotalTime>272</TotalTime>
  <Words>3141</Words>
  <Application>Microsoft Office PowerPoint</Application>
  <PresentationFormat>Widescreen</PresentationFormat>
  <Paragraphs>170</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Goudy Old Style</vt:lpstr>
      <vt:lpstr>Wingdings 2</vt:lpstr>
      <vt:lpstr>SlateVTI</vt:lpstr>
      <vt:lpstr>Spotify dataset analysis</vt:lpstr>
      <vt:lpstr>Agenda</vt:lpstr>
      <vt:lpstr>Objective </vt:lpstr>
      <vt:lpstr>Dataset analysis</vt:lpstr>
      <vt:lpstr>Univariate analysis </vt:lpstr>
      <vt:lpstr>Popularity score</vt:lpstr>
      <vt:lpstr>Making People Move (Danceability)</vt:lpstr>
      <vt:lpstr>Distribution of tempo</vt:lpstr>
      <vt:lpstr>   Energy distribution</vt:lpstr>
      <vt:lpstr>PowerPoint Presentation</vt:lpstr>
      <vt:lpstr>Bivariate Analysis</vt:lpstr>
      <vt:lpstr>POPULARITY VS DANCEABILITY</vt:lpstr>
      <vt:lpstr>AVERAGE POPULARITY VS ACOUSTICNESS</vt:lpstr>
      <vt:lpstr>POPULARITY VS TEMPO</vt:lpstr>
      <vt:lpstr>TOP ARTISTS BY AVG POPULARITY</vt:lpstr>
      <vt:lpstr>POPULARITY VS ENERGY (BY LANGUAGE)</vt:lpstr>
      <vt:lpstr>LANGUAGE VS POPULARITY (BOXPLOT)</vt:lpstr>
      <vt:lpstr>PowerPoint Presentation</vt:lpstr>
      <vt:lpstr>Multivariate Analysis</vt:lpstr>
      <vt:lpstr>CORRELATION HEATMAP</vt:lpstr>
      <vt:lpstr>Tempo – Danceability-Energy- Popularity</vt:lpstr>
      <vt:lpstr>Popularity-duration-tempo </vt:lpstr>
      <vt:lpstr>PCA SCATTER</vt:lpstr>
      <vt:lpstr>Popularity-danceability-energy</vt:lpstr>
      <vt:lpstr>PowerPoint Presentation</vt:lpstr>
      <vt:lpstr>Time series analysis</vt:lpstr>
      <vt:lpstr>Danceability – Yearly Trend</vt:lpstr>
      <vt:lpstr>Energy – Yearly Trend</vt:lpstr>
      <vt:lpstr>Tempo– Yearly Trend</vt:lpstr>
      <vt:lpstr>Loudness– Yearly Trend</vt:lpstr>
      <vt:lpstr>Popularity – Yearly Trend</vt:lpstr>
      <vt:lpstr>Danceability vs energy</vt:lpstr>
      <vt:lpstr>YEARLY TRENDS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ACER</dc:creator>
  <cp:lastModifiedBy>ACER</cp:lastModifiedBy>
  <cp:revision>4</cp:revision>
  <dcterms:created xsi:type="dcterms:W3CDTF">2025-10-05T11:40:46Z</dcterms:created>
  <dcterms:modified xsi:type="dcterms:W3CDTF">2025-11-30T12:29:19Z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